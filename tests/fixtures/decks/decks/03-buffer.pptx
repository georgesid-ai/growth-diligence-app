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400"/>
            <a:ext cx="13004800" cy="97282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300" y="8953500"/>
            <a:ext cx="2895600" cy="571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7151" y="800100"/>
            <a:ext cx="11384915" cy="1305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1759" y="165100"/>
            <a:ext cx="10301281" cy="2791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3500" y="1612900"/>
            <a:ext cx="9255760" cy="2359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jpg"/><Relationship Id="rId7" Type="http://schemas.openxmlformats.org/officeDocument/2006/relationships/image" Target="../media/image2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Relationship Id="rId3" Type="http://schemas.openxmlformats.org/officeDocument/2006/relationships/hyperlink" Target="mailto:founders@bufferapp.com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8497" y="3829050"/>
            <a:ext cx="11663680" cy="49428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ctr" marL="12065" marR="5892800">
              <a:lnSpc>
                <a:spcPct val="101899"/>
              </a:lnSpc>
              <a:spcBef>
                <a:spcPts val="15"/>
              </a:spcBef>
            </a:pPr>
            <a:r>
              <a:rPr dirty="0" sz="3600" spc="-145" b="1">
                <a:latin typeface="Tahoma"/>
                <a:cs typeface="Tahoma"/>
              </a:rPr>
              <a:t>“the</a:t>
            </a:r>
            <a:r>
              <a:rPr dirty="0" sz="3600" spc="-120" b="1">
                <a:latin typeface="Tahoma"/>
                <a:cs typeface="Tahoma"/>
              </a:rPr>
              <a:t> </a:t>
            </a:r>
            <a:r>
              <a:rPr dirty="0" sz="3600" spc="-155" b="1">
                <a:latin typeface="Tahoma"/>
                <a:cs typeface="Tahoma"/>
              </a:rPr>
              <a:t>amount</a:t>
            </a:r>
            <a:r>
              <a:rPr dirty="0" sz="3600" spc="-10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a</a:t>
            </a:r>
            <a:r>
              <a:rPr dirty="0" sz="3600" spc="-165" b="1">
                <a:latin typeface="Tahoma"/>
                <a:cs typeface="Tahoma"/>
              </a:rPr>
              <a:t> </a:t>
            </a:r>
            <a:r>
              <a:rPr dirty="0" sz="3600" spc="-65" b="1">
                <a:latin typeface="Tahoma"/>
                <a:cs typeface="Tahoma"/>
              </a:rPr>
              <a:t>user</a:t>
            </a:r>
            <a:r>
              <a:rPr dirty="0" sz="3600" spc="-130" b="1">
                <a:latin typeface="Tahoma"/>
                <a:cs typeface="Tahoma"/>
              </a:rPr>
              <a:t> </a:t>
            </a:r>
            <a:r>
              <a:rPr dirty="0" sz="3600" spc="-30" b="1">
                <a:latin typeface="Tahoma"/>
                <a:cs typeface="Tahoma"/>
              </a:rPr>
              <a:t>shares </a:t>
            </a:r>
            <a:r>
              <a:rPr dirty="0" sz="3600" spc="-105" b="1">
                <a:latin typeface="Tahoma"/>
                <a:cs typeface="Tahoma"/>
              </a:rPr>
              <a:t>today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is</a:t>
            </a:r>
            <a:r>
              <a:rPr dirty="0" sz="3600" spc="-135" b="1">
                <a:latin typeface="Tahoma"/>
                <a:cs typeface="Tahoma"/>
              </a:rPr>
              <a:t> </a:t>
            </a:r>
            <a:r>
              <a:rPr dirty="0" sz="3600" spc="-100" b="1">
                <a:solidFill>
                  <a:srgbClr val="4DA147"/>
                </a:solidFill>
                <a:latin typeface="Tahoma"/>
                <a:cs typeface="Tahoma"/>
              </a:rPr>
              <a:t>twice</a:t>
            </a:r>
            <a:r>
              <a:rPr dirty="0" sz="3600" spc="-140" b="1">
                <a:solidFill>
                  <a:srgbClr val="4DA147"/>
                </a:solidFill>
                <a:latin typeface="Tahoma"/>
                <a:cs typeface="Tahoma"/>
              </a:rPr>
              <a:t> </a:t>
            </a:r>
            <a:r>
              <a:rPr dirty="0" sz="3600" spc="-135" b="1">
                <a:latin typeface="Tahoma"/>
                <a:cs typeface="Tahoma"/>
              </a:rPr>
              <a:t>the</a:t>
            </a:r>
            <a:r>
              <a:rPr dirty="0" sz="3600" spc="-130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amount </a:t>
            </a:r>
            <a:r>
              <a:rPr dirty="0" sz="3600" spc="-175" b="1">
                <a:latin typeface="Tahoma"/>
                <a:cs typeface="Tahoma"/>
              </a:rPr>
              <a:t>they</a:t>
            </a:r>
            <a:r>
              <a:rPr dirty="0" sz="3600" spc="-90" b="1">
                <a:latin typeface="Tahoma"/>
                <a:cs typeface="Tahoma"/>
              </a:rPr>
              <a:t> shared</a:t>
            </a:r>
            <a:r>
              <a:rPr dirty="0" sz="3600" spc="-150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a</a:t>
            </a:r>
            <a:r>
              <a:rPr dirty="0" sz="3600" spc="-120" b="1">
                <a:latin typeface="Tahoma"/>
                <a:cs typeface="Tahoma"/>
              </a:rPr>
              <a:t> </a:t>
            </a:r>
            <a:r>
              <a:rPr dirty="0" sz="3600" spc="-125" b="1">
                <a:latin typeface="Tahoma"/>
                <a:cs typeface="Tahoma"/>
              </a:rPr>
              <a:t>year</a:t>
            </a:r>
            <a:r>
              <a:rPr dirty="0" sz="3600" spc="-120" b="1">
                <a:latin typeface="Tahoma"/>
                <a:cs typeface="Tahoma"/>
              </a:rPr>
              <a:t> </a:t>
            </a:r>
            <a:r>
              <a:rPr dirty="0" sz="3600" spc="-20" b="1">
                <a:latin typeface="Tahoma"/>
                <a:cs typeface="Tahoma"/>
              </a:rPr>
              <a:t>ago”</a:t>
            </a:r>
            <a:endParaRPr sz="3600">
              <a:latin typeface="Tahoma"/>
              <a:cs typeface="Tahoma"/>
            </a:endParaRPr>
          </a:p>
          <a:p>
            <a:pPr algn="ctr" marR="5880100">
              <a:lnSpc>
                <a:spcPct val="100000"/>
              </a:lnSpc>
              <a:spcBef>
                <a:spcPts val="2480"/>
              </a:spcBef>
            </a:pPr>
            <a:r>
              <a:rPr dirty="0" sz="3600" b="1">
                <a:latin typeface="Tahoma"/>
                <a:cs typeface="Tahoma"/>
              </a:rPr>
              <a:t>-</a:t>
            </a:r>
            <a:r>
              <a:rPr dirty="0" sz="3600" spc="-110" b="1">
                <a:latin typeface="Tahoma"/>
                <a:cs typeface="Tahoma"/>
              </a:rPr>
              <a:t> </a:t>
            </a:r>
            <a:r>
              <a:rPr dirty="0" sz="3600" spc="-85" b="1">
                <a:latin typeface="Tahoma"/>
                <a:cs typeface="Tahoma"/>
              </a:rPr>
              <a:t>Zuckerberg’s</a:t>
            </a:r>
            <a:r>
              <a:rPr dirty="0" sz="3600" spc="-110" b="1">
                <a:latin typeface="Tahoma"/>
                <a:cs typeface="Tahoma"/>
              </a:rPr>
              <a:t> </a:t>
            </a:r>
            <a:r>
              <a:rPr dirty="0" sz="3600" spc="-25" b="1">
                <a:latin typeface="Tahoma"/>
                <a:cs typeface="Tahoma"/>
              </a:rPr>
              <a:t>Law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3600">
              <a:latin typeface="Tahoma"/>
              <a:cs typeface="Tahoma"/>
            </a:endParaRPr>
          </a:p>
          <a:p>
            <a:pPr marL="3354704" marR="5080" indent="-2918460">
              <a:lnSpc>
                <a:spcPct val="101899"/>
              </a:lnSpc>
            </a:pPr>
            <a:r>
              <a:rPr dirty="0" sz="3600" spc="-165" b="1">
                <a:latin typeface="Tahoma"/>
                <a:cs typeface="Tahoma"/>
              </a:rPr>
              <a:t>“it</a:t>
            </a:r>
            <a:r>
              <a:rPr dirty="0" sz="3600" spc="-100" b="1">
                <a:latin typeface="Tahoma"/>
                <a:cs typeface="Tahoma"/>
              </a:rPr>
              <a:t> </a:t>
            </a:r>
            <a:r>
              <a:rPr dirty="0" sz="3600" spc="-165" b="1">
                <a:latin typeface="Tahoma"/>
                <a:cs typeface="Tahoma"/>
              </a:rPr>
              <a:t>won’t</a:t>
            </a:r>
            <a:r>
              <a:rPr dirty="0" sz="3600" spc="-9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be</a:t>
            </a:r>
            <a:r>
              <a:rPr dirty="0" sz="3600" spc="-254" b="1">
                <a:latin typeface="Tahoma"/>
                <a:cs typeface="Tahoma"/>
              </a:rPr>
              <a:t> </a:t>
            </a:r>
            <a:r>
              <a:rPr dirty="0" sz="3600" spc="-90" b="1">
                <a:latin typeface="Tahoma"/>
                <a:cs typeface="Tahoma"/>
              </a:rPr>
              <a:t>long</a:t>
            </a:r>
            <a:r>
              <a:rPr dirty="0" sz="3600" spc="-145" b="1">
                <a:latin typeface="Tahoma"/>
                <a:cs typeface="Tahoma"/>
              </a:rPr>
              <a:t> </a:t>
            </a:r>
            <a:r>
              <a:rPr dirty="0" sz="3600" spc="-110" b="1">
                <a:latin typeface="Tahoma"/>
                <a:cs typeface="Tahoma"/>
              </a:rPr>
              <a:t>before</a:t>
            </a:r>
            <a:r>
              <a:rPr dirty="0" sz="3600" spc="-150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Social</a:t>
            </a:r>
            <a:r>
              <a:rPr dirty="0" sz="3600" spc="-145" b="1">
                <a:latin typeface="Tahoma"/>
                <a:cs typeface="Tahoma"/>
              </a:rPr>
              <a:t> </a:t>
            </a:r>
            <a:r>
              <a:rPr dirty="0" sz="3600" spc="-30" b="1">
                <a:latin typeface="Tahoma"/>
                <a:cs typeface="Tahoma"/>
              </a:rPr>
              <a:t>Media</a:t>
            </a:r>
            <a:r>
              <a:rPr dirty="0" sz="3600" spc="-145" b="1">
                <a:latin typeface="Tahoma"/>
                <a:cs typeface="Tahoma"/>
              </a:rPr>
              <a:t> </a:t>
            </a:r>
            <a:r>
              <a:rPr dirty="0" sz="3600" spc="-120" b="1">
                <a:latin typeface="Tahoma"/>
                <a:cs typeface="Tahoma"/>
              </a:rPr>
              <a:t>Marketing</a:t>
            </a:r>
            <a:r>
              <a:rPr dirty="0" sz="3600" spc="-145" b="1">
                <a:latin typeface="Tahoma"/>
                <a:cs typeface="Tahoma"/>
              </a:rPr>
              <a:t> </a:t>
            </a:r>
            <a:r>
              <a:rPr dirty="0" sz="3600" spc="-85" b="1">
                <a:latin typeface="Tahoma"/>
                <a:cs typeface="Tahoma"/>
              </a:rPr>
              <a:t>will </a:t>
            </a:r>
            <a:r>
              <a:rPr dirty="0" sz="3600" spc="-20" b="1">
                <a:latin typeface="Tahoma"/>
                <a:cs typeface="Tahoma"/>
              </a:rPr>
              <a:t>surpass</a:t>
            </a:r>
            <a:r>
              <a:rPr dirty="0" sz="3600" spc="-10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SEO”</a:t>
            </a:r>
            <a:r>
              <a:rPr dirty="0" sz="3600" spc="-100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-</a:t>
            </a:r>
            <a:r>
              <a:rPr dirty="0" sz="3600" spc="-100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Donanza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1300" y="3048000"/>
            <a:ext cx="12433300" cy="6477000"/>
            <a:chOff x="241300" y="3048000"/>
            <a:chExt cx="12433300" cy="6477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2900" y="3048000"/>
              <a:ext cx="5981700" cy="4216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00" y="8953500"/>
              <a:ext cx="2895600" cy="5715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91653" y="254000"/>
            <a:ext cx="8221980" cy="260096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49860" marR="5080" indent="-137795">
              <a:lnSpc>
                <a:spcPts val="10200"/>
              </a:lnSpc>
              <a:spcBef>
                <a:spcPts val="140"/>
              </a:spcBef>
            </a:pPr>
            <a:r>
              <a:rPr dirty="0" spc="-65"/>
              <a:t>Social,</a:t>
            </a:r>
            <a:r>
              <a:rPr dirty="0" spc="-390"/>
              <a:t> </a:t>
            </a:r>
            <a:r>
              <a:rPr dirty="0" spc="-370"/>
              <a:t>the</a:t>
            </a:r>
            <a:r>
              <a:rPr dirty="0" spc="-245"/>
              <a:t> </a:t>
            </a:r>
            <a:r>
              <a:rPr dirty="0" spc="-195"/>
              <a:t>most </a:t>
            </a:r>
            <a:r>
              <a:rPr dirty="0" spc="-375"/>
              <a:t>important</a:t>
            </a:r>
            <a:r>
              <a:rPr dirty="0" spc="-120"/>
              <a:t> </a:t>
            </a:r>
            <a:r>
              <a:rPr dirty="0" spc="-405"/>
              <a:t>trend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28008" y="3613150"/>
            <a:ext cx="10936605" cy="24765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79905" marR="5080" indent="-1767839">
              <a:lnSpc>
                <a:spcPct val="101000"/>
              </a:lnSpc>
            </a:pPr>
            <a:r>
              <a:rPr dirty="0" sz="8000" spc="-305">
                <a:solidFill>
                  <a:srgbClr val="FFFFFF"/>
                </a:solidFill>
              </a:rPr>
              <a:t>How</a:t>
            </a:r>
            <a:r>
              <a:rPr dirty="0" sz="8000" spc="-275">
                <a:solidFill>
                  <a:srgbClr val="FFFFFF"/>
                </a:solidFill>
              </a:rPr>
              <a:t> </a:t>
            </a:r>
            <a:r>
              <a:rPr dirty="0" sz="8000">
                <a:solidFill>
                  <a:srgbClr val="FFFFFF"/>
                </a:solidFill>
              </a:rPr>
              <a:t>do</a:t>
            </a:r>
            <a:r>
              <a:rPr dirty="0" sz="8000" spc="-270">
                <a:solidFill>
                  <a:srgbClr val="FFFFFF"/>
                </a:solidFill>
              </a:rPr>
              <a:t> </a:t>
            </a:r>
            <a:r>
              <a:rPr dirty="0" sz="8000" spc="-295">
                <a:solidFill>
                  <a:srgbClr val="FFFFFF"/>
                </a:solidFill>
              </a:rPr>
              <a:t>you</a:t>
            </a:r>
            <a:r>
              <a:rPr dirty="0" sz="8000" spc="-275">
                <a:solidFill>
                  <a:srgbClr val="FFFFFF"/>
                </a:solidFill>
              </a:rPr>
              <a:t> </a:t>
            </a:r>
            <a:r>
              <a:rPr dirty="0" sz="8000">
                <a:solidFill>
                  <a:srgbClr val="FFFFFF"/>
                </a:solidFill>
              </a:rPr>
              <a:t>use</a:t>
            </a:r>
            <a:r>
              <a:rPr dirty="0" sz="8000" spc="-270">
                <a:solidFill>
                  <a:srgbClr val="FFFFFF"/>
                </a:solidFill>
              </a:rPr>
              <a:t> </a:t>
            </a:r>
            <a:r>
              <a:rPr dirty="0" sz="8000" spc="-60">
                <a:solidFill>
                  <a:srgbClr val="FFFFFF"/>
                </a:solidFill>
              </a:rPr>
              <a:t>social </a:t>
            </a:r>
            <a:r>
              <a:rPr dirty="0" sz="8000" spc="-290">
                <a:solidFill>
                  <a:srgbClr val="FFFFFF"/>
                </a:solidFill>
              </a:rPr>
              <a:t>to</a:t>
            </a:r>
            <a:r>
              <a:rPr dirty="0" sz="8000" spc="-120">
                <a:solidFill>
                  <a:srgbClr val="FFFFFF"/>
                </a:solidFill>
              </a:rPr>
              <a:t> </a:t>
            </a:r>
            <a:r>
              <a:rPr dirty="0" sz="8000" spc="-325">
                <a:solidFill>
                  <a:srgbClr val="FFFFFF"/>
                </a:solidFill>
              </a:rPr>
              <a:t>drive</a:t>
            </a:r>
            <a:r>
              <a:rPr dirty="0" sz="8000" spc="-120">
                <a:solidFill>
                  <a:srgbClr val="FFFFFF"/>
                </a:solidFill>
              </a:rPr>
              <a:t> </a:t>
            </a:r>
            <a:r>
              <a:rPr dirty="0" sz="8000" spc="-265">
                <a:solidFill>
                  <a:srgbClr val="FFFFFF"/>
                </a:solidFill>
              </a:rPr>
              <a:t>traffic?</a:t>
            </a:r>
            <a:endParaRPr sz="800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00"/>
            <a:ext cx="13004800" cy="9728200"/>
            <a:chOff x="0" y="25400"/>
            <a:chExt cx="13004800" cy="9728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400"/>
              <a:ext cx="13004800" cy="9728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00" y="8953500"/>
              <a:ext cx="2895600" cy="5715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Queue</a:t>
            </a:r>
            <a:r>
              <a:rPr dirty="0" spc="-275"/>
              <a:t> </a:t>
            </a:r>
            <a:r>
              <a:rPr dirty="0" spc="-335"/>
              <a:t>your</a:t>
            </a:r>
            <a:r>
              <a:rPr dirty="0" spc="-270"/>
              <a:t> </a:t>
            </a:r>
            <a:r>
              <a:rPr dirty="0" spc="-190"/>
              <a:t>updates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-6350" y="-6350"/>
            <a:ext cx="13017500" cy="9766300"/>
            <a:chOff x="-6350" y="-6350"/>
            <a:chExt cx="13017500" cy="97663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100" y="2209800"/>
              <a:ext cx="11645900" cy="62992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9753600"/>
                  </a:moveTo>
                  <a:lnTo>
                    <a:pt x="13004800" y="9753600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9753600"/>
                  </a:lnTo>
                  <a:close/>
                </a:path>
              </a:pathLst>
            </a:custGeom>
            <a:ln w="1270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7700" rIns="0" bIns="0" rtlCol="0" vert="horz">
            <a:spAutoFit/>
          </a:bodyPr>
          <a:lstStyle/>
          <a:p>
            <a:pPr marL="3086100">
              <a:lnSpc>
                <a:spcPct val="100000"/>
              </a:lnSpc>
              <a:spcBef>
                <a:spcPts val="100"/>
              </a:spcBef>
            </a:pPr>
            <a:r>
              <a:rPr dirty="0" spc="-1010"/>
              <a:t>T</a:t>
            </a:r>
            <a:r>
              <a:rPr dirty="0" spc="-225"/>
              <a:t>raction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1300" y="3022600"/>
            <a:ext cx="12687300" cy="6502400"/>
            <a:chOff x="241300" y="3022600"/>
            <a:chExt cx="12687300" cy="65024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3022600"/>
              <a:ext cx="12293600" cy="519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00" y="8953500"/>
              <a:ext cx="2895600" cy="571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17300" y="3174999"/>
              <a:ext cx="1511300" cy="1206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74800" y="3139439"/>
            <a:ext cx="8811260" cy="4343400"/>
          </a:xfrm>
          <a:prstGeom prst="rect">
            <a:avLst/>
          </a:prstGeom>
        </p:spPr>
        <p:txBody>
          <a:bodyPr wrap="square" lIns="0" tIns="327660" rIns="0" bIns="0" rtlCol="0" vert="horz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2580"/>
              </a:spcBef>
              <a:buChar char="•"/>
              <a:tabLst>
                <a:tab pos="583565" algn="l"/>
              </a:tabLst>
            </a:pPr>
            <a:r>
              <a:rPr dirty="0" sz="3600" spc="-300" b="1">
                <a:latin typeface="Tahoma"/>
                <a:cs typeface="Tahoma"/>
              </a:rPr>
              <a:t>800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110" b="1">
                <a:latin typeface="Tahoma"/>
                <a:cs typeface="Tahoma"/>
              </a:rPr>
              <a:t>Paying</a:t>
            </a:r>
            <a:r>
              <a:rPr dirty="0" sz="3600" spc="-125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Users</a:t>
            </a:r>
            <a:endParaRPr sz="3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2480"/>
              </a:spcBef>
              <a:buChar char="•"/>
              <a:tabLst>
                <a:tab pos="583565" algn="l"/>
              </a:tabLst>
            </a:pPr>
            <a:r>
              <a:rPr dirty="0" sz="3600" spc="-280" b="1">
                <a:latin typeface="Tahoma"/>
                <a:cs typeface="Tahoma"/>
              </a:rPr>
              <a:t>$150,000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135" b="1">
                <a:latin typeface="Tahoma"/>
                <a:cs typeface="Tahoma"/>
              </a:rPr>
              <a:t>annual</a:t>
            </a:r>
            <a:r>
              <a:rPr dirty="0" sz="3600" spc="-125" b="1">
                <a:latin typeface="Tahoma"/>
                <a:cs typeface="Tahoma"/>
              </a:rPr>
              <a:t> </a:t>
            </a:r>
            <a:r>
              <a:rPr dirty="0" sz="3600" spc="-140" b="1">
                <a:latin typeface="Tahoma"/>
                <a:cs typeface="Tahoma"/>
              </a:rPr>
              <a:t>revenue</a:t>
            </a:r>
            <a:r>
              <a:rPr dirty="0" sz="3600" spc="-90" b="1">
                <a:latin typeface="Tahoma"/>
                <a:cs typeface="Tahoma"/>
              </a:rPr>
              <a:t> </a:t>
            </a:r>
            <a:r>
              <a:rPr dirty="0" sz="3600" spc="-145" b="1">
                <a:latin typeface="Tahoma"/>
                <a:cs typeface="Tahoma"/>
              </a:rPr>
              <a:t>run</a:t>
            </a:r>
            <a:r>
              <a:rPr dirty="0" sz="3600" spc="-90" b="1">
                <a:latin typeface="Tahoma"/>
                <a:cs typeface="Tahoma"/>
              </a:rPr>
              <a:t> </a:t>
            </a:r>
            <a:r>
              <a:rPr dirty="0" sz="3600" spc="-20" b="1">
                <a:latin typeface="Tahoma"/>
                <a:cs typeface="Tahoma"/>
              </a:rPr>
              <a:t>rate</a:t>
            </a:r>
            <a:endParaRPr sz="3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2480"/>
              </a:spcBef>
              <a:buChar char="•"/>
              <a:tabLst>
                <a:tab pos="583565" algn="l"/>
              </a:tabLst>
            </a:pPr>
            <a:r>
              <a:rPr dirty="0" sz="3600" spc="-445" b="1">
                <a:latin typeface="Tahoma"/>
                <a:cs typeface="Tahoma"/>
              </a:rPr>
              <a:t>97%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margins</a:t>
            </a:r>
            <a:endParaRPr sz="3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2480"/>
              </a:spcBef>
              <a:buChar char="•"/>
              <a:tabLst>
                <a:tab pos="583565" algn="l"/>
              </a:tabLst>
            </a:pPr>
            <a:r>
              <a:rPr dirty="0" sz="3600" spc="-275" b="1">
                <a:latin typeface="Tahoma"/>
                <a:cs typeface="Tahoma"/>
              </a:rPr>
              <a:t>55,000</a:t>
            </a:r>
            <a:r>
              <a:rPr dirty="0" sz="3600" spc="-55" b="1">
                <a:latin typeface="Tahoma"/>
                <a:cs typeface="Tahoma"/>
              </a:rPr>
              <a:t> users,</a:t>
            </a:r>
            <a:r>
              <a:rPr dirty="0" sz="3600" spc="-210" b="1">
                <a:latin typeface="Tahoma"/>
                <a:cs typeface="Tahoma"/>
              </a:rPr>
              <a:t> </a:t>
            </a:r>
            <a:r>
              <a:rPr dirty="0" sz="3600" spc="-150" b="1">
                <a:latin typeface="Tahoma"/>
                <a:cs typeface="Tahoma"/>
              </a:rPr>
              <a:t>growing</a:t>
            </a:r>
            <a:r>
              <a:rPr dirty="0" sz="3600" spc="-105" b="1">
                <a:latin typeface="Tahoma"/>
                <a:cs typeface="Tahoma"/>
              </a:rPr>
              <a:t> </a:t>
            </a:r>
            <a:r>
              <a:rPr dirty="0" sz="3600" spc="-445" b="1">
                <a:latin typeface="Tahoma"/>
                <a:cs typeface="Tahoma"/>
              </a:rPr>
              <a:t>40%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50" b="1">
                <a:latin typeface="Tahoma"/>
                <a:cs typeface="Tahoma"/>
              </a:rPr>
              <a:t>per</a:t>
            </a:r>
            <a:r>
              <a:rPr dirty="0" sz="3600" spc="-105" b="1">
                <a:latin typeface="Tahoma"/>
                <a:cs typeface="Tahoma"/>
              </a:rPr>
              <a:t> </a:t>
            </a:r>
            <a:r>
              <a:rPr dirty="0" sz="3600" spc="-80" b="1">
                <a:latin typeface="Tahoma"/>
                <a:cs typeface="Tahoma"/>
              </a:rPr>
              <a:t>month</a:t>
            </a:r>
            <a:endParaRPr sz="3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2480"/>
              </a:spcBef>
              <a:buChar char="•"/>
              <a:tabLst>
                <a:tab pos="583565" algn="l"/>
              </a:tabLst>
            </a:pPr>
            <a:r>
              <a:rPr dirty="0" sz="3600" spc="-254" b="1">
                <a:latin typeface="Tahoma"/>
                <a:cs typeface="Tahoma"/>
              </a:rPr>
              <a:t>1.5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155" b="1">
                <a:latin typeface="Tahoma"/>
                <a:cs typeface="Tahoma"/>
              </a:rPr>
              <a:t>million</a:t>
            </a:r>
            <a:r>
              <a:rPr dirty="0" sz="3600" spc="-110" b="1">
                <a:latin typeface="Tahoma"/>
                <a:cs typeface="Tahoma"/>
              </a:rPr>
              <a:t> </a:t>
            </a:r>
            <a:r>
              <a:rPr dirty="0" sz="3600" spc="-90" b="1">
                <a:latin typeface="Tahoma"/>
                <a:cs typeface="Tahoma"/>
              </a:rPr>
              <a:t>updates</a:t>
            </a:r>
            <a:r>
              <a:rPr dirty="0" sz="3600" spc="-95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Buffered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15533" y="266700"/>
            <a:ext cx="557403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Milestones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35300" y="1984586"/>
            <a:ext cx="8429625" cy="72307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470"/>
              </a:spcBef>
              <a:buChar char="-"/>
              <a:tabLst>
                <a:tab pos="583565" algn="l"/>
              </a:tabLst>
            </a:pPr>
            <a:r>
              <a:rPr dirty="0" sz="4200" spc="-55" b="1">
                <a:latin typeface="Tahoma"/>
                <a:cs typeface="Tahoma"/>
              </a:rPr>
              <a:t>Launched</a:t>
            </a:r>
            <a:r>
              <a:rPr dirty="0" sz="4200" spc="-220" b="1">
                <a:latin typeface="Tahoma"/>
                <a:cs typeface="Tahoma"/>
              </a:rPr>
              <a:t> </a:t>
            </a:r>
            <a:r>
              <a:rPr dirty="0" sz="4200" spc="-155" b="1">
                <a:latin typeface="Tahoma"/>
                <a:cs typeface="Tahoma"/>
              </a:rPr>
              <a:t>web</a:t>
            </a:r>
            <a:r>
              <a:rPr dirty="0" sz="4200" spc="-150" b="1">
                <a:latin typeface="Tahoma"/>
                <a:cs typeface="Tahoma"/>
              </a:rPr>
              <a:t> </a:t>
            </a:r>
            <a:r>
              <a:rPr dirty="0" sz="4200" spc="-25" b="1">
                <a:latin typeface="Tahoma"/>
                <a:cs typeface="Tahoma"/>
              </a:rPr>
              <a:t>app</a:t>
            </a:r>
            <a:endParaRPr sz="420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160"/>
              </a:spcBef>
            </a:pPr>
            <a:r>
              <a:rPr dirty="0" sz="1800" spc="-45" b="1">
                <a:solidFill>
                  <a:srgbClr val="5A5A57"/>
                </a:solidFill>
                <a:latin typeface="Tahoma"/>
                <a:cs typeface="Tahoma"/>
              </a:rPr>
              <a:t>January</a:t>
            </a:r>
            <a:r>
              <a:rPr dirty="0" sz="1800" spc="-75" b="1">
                <a:solidFill>
                  <a:srgbClr val="5A5A57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5A5A57"/>
                </a:solidFill>
                <a:latin typeface="Tahoma"/>
                <a:cs typeface="Tahoma"/>
              </a:rPr>
              <a:t>2011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Char char="-"/>
              <a:tabLst>
                <a:tab pos="583565" algn="l"/>
              </a:tabLst>
            </a:pPr>
            <a:r>
              <a:rPr dirty="0" sz="4200" spc="-320" b="1">
                <a:latin typeface="Tahoma"/>
                <a:cs typeface="Tahoma"/>
              </a:rPr>
              <a:t>55,000</a:t>
            </a:r>
            <a:r>
              <a:rPr dirty="0" sz="4200" spc="-65" b="1">
                <a:latin typeface="Tahoma"/>
                <a:cs typeface="Tahoma"/>
              </a:rPr>
              <a:t> </a:t>
            </a:r>
            <a:r>
              <a:rPr dirty="0" sz="4200" spc="-25" b="1">
                <a:latin typeface="Tahoma"/>
                <a:cs typeface="Tahoma"/>
              </a:rPr>
              <a:t>users</a:t>
            </a:r>
            <a:r>
              <a:rPr dirty="0" sz="4200" spc="-250" b="1">
                <a:latin typeface="Tahoma"/>
                <a:cs typeface="Tahoma"/>
              </a:rPr>
              <a:t> </a:t>
            </a:r>
            <a:r>
              <a:rPr dirty="0" sz="4200" spc="-340" b="1">
                <a:latin typeface="Tahoma"/>
                <a:cs typeface="Tahoma"/>
              </a:rPr>
              <a:t>($150K</a:t>
            </a:r>
            <a:r>
              <a:rPr dirty="0" sz="4200" spc="-65" b="1">
                <a:latin typeface="Tahoma"/>
                <a:cs typeface="Tahoma"/>
              </a:rPr>
              <a:t> </a:t>
            </a:r>
            <a:r>
              <a:rPr dirty="0" sz="4200" spc="-265" b="1">
                <a:latin typeface="Tahoma"/>
                <a:cs typeface="Tahoma"/>
              </a:rPr>
              <a:t>revenue)</a:t>
            </a:r>
            <a:endParaRPr sz="420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160"/>
              </a:spcBef>
            </a:pPr>
            <a:r>
              <a:rPr dirty="0" sz="1800" spc="-25" b="1">
                <a:solidFill>
                  <a:srgbClr val="5A5A57"/>
                </a:solidFill>
                <a:latin typeface="Tahoma"/>
                <a:cs typeface="Tahoma"/>
              </a:rPr>
              <a:t>October</a:t>
            </a:r>
            <a:r>
              <a:rPr dirty="0" sz="1800" spc="-75" b="1">
                <a:solidFill>
                  <a:srgbClr val="5A5A57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5A5A57"/>
                </a:solidFill>
                <a:latin typeface="Tahoma"/>
                <a:cs typeface="Tahoma"/>
              </a:rPr>
              <a:t>2011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Char char="-"/>
              <a:tabLst>
                <a:tab pos="583565" algn="l"/>
              </a:tabLst>
            </a:pPr>
            <a:r>
              <a:rPr dirty="0" sz="4200" spc="-45" b="1">
                <a:latin typeface="Tahoma"/>
                <a:cs typeface="Tahoma"/>
              </a:rPr>
              <a:t>Launch</a:t>
            </a:r>
            <a:r>
              <a:rPr dirty="0" sz="4200" spc="-245" b="1">
                <a:latin typeface="Tahoma"/>
                <a:cs typeface="Tahoma"/>
              </a:rPr>
              <a:t> </a:t>
            </a:r>
            <a:r>
              <a:rPr dirty="0" sz="4200" spc="-200" b="1">
                <a:latin typeface="Tahoma"/>
                <a:cs typeface="Tahoma"/>
              </a:rPr>
              <a:t>the</a:t>
            </a:r>
            <a:r>
              <a:rPr dirty="0" sz="4200" spc="-105" b="1">
                <a:latin typeface="Tahoma"/>
                <a:cs typeface="Tahoma"/>
              </a:rPr>
              <a:t> </a:t>
            </a:r>
            <a:r>
              <a:rPr dirty="0" sz="4200" spc="-285" b="1">
                <a:latin typeface="Tahoma"/>
                <a:cs typeface="Tahoma"/>
              </a:rPr>
              <a:t>API</a:t>
            </a:r>
            <a:endParaRPr sz="420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160"/>
              </a:spcBef>
            </a:pPr>
            <a:r>
              <a:rPr dirty="0" sz="1800" spc="-25" b="1">
                <a:solidFill>
                  <a:srgbClr val="4DA147"/>
                </a:solidFill>
                <a:latin typeface="Tahoma"/>
                <a:cs typeface="Tahoma"/>
              </a:rPr>
              <a:t>October</a:t>
            </a:r>
            <a:r>
              <a:rPr dirty="0" sz="1800" spc="-75" b="1">
                <a:solidFill>
                  <a:srgbClr val="4DA147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4DA147"/>
                </a:solidFill>
                <a:latin typeface="Tahoma"/>
                <a:cs typeface="Tahoma"/>
              </a:rPr>
              <a:t>2011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Char char="-"/>
              <a:tabLst>
                <a:tab pos="583565" algn="l"/>
              </a:tabLst>
            </a:pPr>
            <a:r>
              <a:rPr dirty="0" sz="4200" spc="-229" b="1">
                <a:latin typeface="Tahoma"/>
                <a:cs typeface="Tahoma"/>
              </a:rPr>
              <a:t>Integrated</a:t>
            </a:r>
            <a:r>
              <a:rPr dirty="0" sz="4200" spc="-80" b="1">
                <a:latin typeface="Tahoma"/>
                <a:cs typeface="Tahoma"/>
              </a:rPr>
              <a:t> </a:t>
            </a:r>
            <a:r>
              <a:rPr dirty="0" sz="4200" spc="-160" b="1">
                <a:latin typeface="Tahoma"/>
                <a:cs typeface="Tahoma"/>
              </a:rPr>
              <a:t>in</a:t>
            </a:r>
            <a:r>
              <a:rPr dirty="0" sz="4200" spc="-105" b="1">
                <a:latin typeface="Tahoma"/>
                <a:cs typeface="Tahoma"/>
              </a:rPr>
              <a:t> </a:t>
            </a:r>
            <a:r>
              <a:rPr dirty="0" sz="4200" spc="-350" b="1">
                <a:latin typeface="Tahoma"/>
                <a:cs typeface="Tahoma"/>
              </a:rPr>
              <a:t>50</a:t>
            </a:r>
            <a:r>
              <a:rPr dirty="0" sz="4200" spc="-65" b="1">
                <a:latin typeface="Tahoma"/>
                <a:cs typeface="Tahoma"/>
              </a:rPr>
              <a:t> </a:t>
            </a:r>
            <a:r>
              <a:rPr dirty="0" sz="4200" spc="-20" b="1">
                <a:latin typeface="Tahoma"/>
                <a:cs typeface="Tahoma"/>
              </a:rPr>
              <a:t>apps</a:t>
            </a:r>
            <a:endParaRPr sz="420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160"/>
              </a:spcBef>
            </a:pPr>
            <a:r>
              <a:rPr dirty="0" sz="1800" spc="-30" b="1">
                <a:solidFill>
                  <a:srgbClr val="4DA147"/>
                </a:solidFill>
                <a:latin typeface="Tahoma"/>
                <a:cs typeface="Tahoma"/>
              </a:rPr>
              <a:t>December</a:t>
            </a:r>
            <a:r>
              <a:rPr dirty="0" sz="1800" spc="-65" b="1">
                <a:solidFill>
                  <a:srgbClr val="4DA147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4DA147"/>
                </a:solidFill>
                <a:latin typeface="Tahoma"/>
                <a:cs typeface="Tahoma"/>
              </a:rPr>
              <a:t>2011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Char char="-"/>
              <a:tabLst>
                <a:tab pos="583565" algn="l"/>
              </a:tabLst>
            </a:pPr>
            <a:r>
              <a:rPr dirty="0" sz="4200" spc="-325" b="1">
                <a:latin typeface="Tahoma"/>
                <a:cs typeface="Tahoma"/>
              </a:rPr>
              <a:t>100,000</a:t>
            </a:r>
            <a:r>
              <a:rPr dirty="0" sz="4200" spc="-65" b="1">
                <a:latin typeface="Tahoma"/>
                <a:cs typeface="Tahoma"/>
              </a:rPr>
              <a:t> </a:t>
            </a:r>
            <a:r>
              <a:rPr dirty="0" sz="4200" spc="-25" b="1">
                <a:latin typeface="Tahoma"/>
                <a:cs typeface="Tahoma"/>
              </a:rPr>
              <a:t>users</a:t>
            </a:r>
            <a:r>
              <a:rPr dirty="0" sz="4200" spc="-245" b="1">
                <a:latin typeface="Tahoma"/>
                <a:cs typeface="Tahoma"/>
              </a:rPr>
              <a:t> </a:t>
            </a:r>
            <a:r>
              <a:rPr dirty="0" sz="4200" spc="-340" b="1">
                <a:latin typeface="Tahoma"/>
                <a:cs typeface="Tahoma"/>
              </a:rPr>
              <a:t>($288K</a:t>
            </a:r>
            <a:r>
              <a:rPr dirty="0" sz="4200" spc="-65" b="1">
                <a:latin typeface="Tahoma"/>
                <a:cs typeface="Tahoma"/>
              </a:rPr>
              <a:t> </a:t>
            </a:r>
            <a:r>
              <a:rPr dirty="0" sz="4200" spc="-265" b="1">
                <a:latin typeface="Tahoma"/>
                <a:cs typeface="Tahoma"/>
              </a:rPr>
              <a:t>revenue)</a:t>
            </a:r>
            <a:endParaRPr sz="420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160"/>
              </a:spcBef>
            </a:pPr>
            <a:r>
              <a:rPr dirty="0" sz="1800" spc="-45" b="1">
                <a:solidFill>
                  <a:srgbClr val="4DA147"/>
                </a:solidFill>
                <a:latin typeface="Tahoma"/>
                <a:cs typeface="Tahoma"/>
              </a:rPr>
              <a:t>January</a:t>
            </a:r>
            <a:r>
              <a:rPr dirty="0" sz="1800" spc="-75" b="1">
                <a:solidFill>
                  <a:srgbClr val="4DA147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4DA147"/>
                </a:solidFill>
                <a:latin typeface="Tahoma"/>
                <a:cs typeface="Tahoma"/>
              </a:rPr>
              <a:t>2012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buChar char="-"/>
              <a:tabLst>
                <a:tab pos="583565" algn="l"/>
              </a:tabLst>
            </a:pPr>
            <a:r>
              <a:rPr dirty="0" sz="4200" spc="-350" b="1">
                <a:latin typeface="Tahoma"/>
                <a:cs typeface="Tahoma"/>
              </a:rPr>
              <a:t>1</a:t>
            </a:r>
            <a:r>
              <a:rPr dirty="0" sz="4200" spc="-65" b="1">
                <a:latin typeface="Tahoma"/>
                <a:cs typeface="Tahoma"/>
              </a:rPr>
              <a:t> </a:t>
            </a:r>
            <a:r>
              <a:rPr dirty="0" sz="4200" spc="-155" b="1">
                <a:latin typeface="Tahoma"/>
                <a:cs typeface="Tahoma"/>
              </a:rPr>
              <a:t>million </a:t>
            </a:r>
            <a:r>
              <a:rPr dirty="0" sz="4200" spc="-25" b="1">
                <a:latin typeface="Tahoma"/>
                <a:cs typeface="Tahoma"/>
              </a:rPr>
              <a:t>users</a:t>
            </a:r>
            <a:r>
              <a:rPr dirty="0" sz="4200" spc="-250" b="1">
                <a:latin typeface="Tahoma"/>
                <a:cs typeface="Tahoma"/>
              </a:rPr>
              <a:t> </a:t>
            </a:r>
            <a:r>
              <a:rPr dirty="0" sz="4200" spc="-300" b="1">
                <a:latin typeface="Tahoma"/>
                <a:cs typeface="Tahoma"/>
              </a:rPr>
              <a:t>($3.6M</a:t>
            </a:r>
            <a:r>
              <a:rPr dirty="0" sz="4200" spc="-65" b="1">
                <a:latin typeface="Tahoma"/>
                <a:cs typeface="Tahoma"/>
              </a:rPr>
              <a:t> </a:t>
            </a:r>
            <a:r>
              <a:rPr dirty="0" sz="4200" spc="-265" b="1">
                <a:latin typeface="Tahoma"/>
                <a:cs typeface="Tahoma"/>
              </a:rPr>
              <a:t>revenue)</a:t>
            </a:r>
            <a:endParaRPr sz="420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160"/>
              </a:spcBef>
            </a:pPr>
            <a:r>
              <a:rPr dirty="0" sz="1800" spc="-45" b="1">
                <a:solidFill>
                  <a:srgbClr val="4DA147"/>
                </a:solidFill>
                <a:latin typeface="Tahoma"/>
                <a:cs typeface="Tahoma"/>
              </a:rPr>
              <a:t>January</a:t>
            </a:r>
            <a:r>
              <a:rPr dirty="0" sz="1800" spc="-75" b="1">
                <a:solidFill>
                  <a:srgbClr val="4DA147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4DA147"/>
                </a:solidFill>
                <a:latin typeface="Tahoma"/>
                <a:cs typeface="Tahoma"/>
              </a:rPr>
              <a:t>2013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-6350"/>
            <a:ext cx="13017500" cy="9766300"/>
            <a:chOff x="-6350" y="-6350"/>
            <a:chExt cx="13017500" cy="97663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00" y="8953500"/>
              <a:ext cx="2895600" cy="571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9753600"/>
                  </a:moveTo>
                  <a:lnTo>
                    <a:pt x="13004800" y="9753600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9753600"/>
                  </a:lnTo>
                  <a:close/>
                </a:path>
              </a:pathLst>
            </a:custGeom>
            <a:ln w="1270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50856" y="800100"/>
            <a:ext cx="8103234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Business</a:t>
            </a:r>
            <a:r>
              <a:rPr dirty="0" spc="-555"/>
              <a:t> </a:t>
            </a:r>
            <a:r>
              <a:rPr dirty="0" spc="-95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6000" y="3911600"/>
            <a:ext cx="11257915" cy="34188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584200" marR="177800" indent="-571500">
              <a:lnSpc>
                <a:spcPct val="101899"/>
              </a:lnSpc>
              <a:spcBef>
                <a:spcPts val="15"/>
              </a:spcBef>
              <a:buChar char="•"/>
              <a:tabLst>
                <a:tab pos="584200" algn="l"/>
              </a:tabLst>
            </a:pPr>
            <a:r>
              <a:rPr dirty="0" sz="3600" spc="-130" b="1">
                <a:latin typeface="Tahoma"/>
                <a:cs typeface="Tahoma"/>
              </a:rPr>
              <a:t>Freemium</a:t>
            </a:r>
            <a:r>
              <a:rPr dirty="0" sz="3600" spc="-135" b="1">
                <a:latin typeface="Tahoma"/>
                <a:cs typeface="Tahoma"/>
              </a:rPr>
              <a:t> </a:t>
            </a:r>
            <a:r>
              <a:rPr dirty="0" sz="3600" spc="-90" b="1">
                <a:latin typeface="Tahoma"/>
                <a:cs typeface="Tahoma"/>
              </a:rPr>
              <a:t>model</a:t>
            </a:r>
            <a:r>
              <a:rPr dirty="0" sz="3600" spc="-170" b="1">
                <a:latin typeface="Tahoma"/>
                <a:cs typeface="Tahoma"/>
              </a:rPr>
              <a:t> </a:t>
            </a:r>
            <a:r>
              <a:rPr dirty="0" sz="3600" spc="-229" b="1">
                <a:latin typeface="Tahoma"/>
                <a:cs typeface="Tahoma"/>
              </a:rPr>
              <a:t>with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60" b="1">
                <a:latin typeface="Tahoma"/>
                <a:cs typeface="Tahoma"/>
              </a:rPr>
              <a:t>consistent</a:t>
            </a:r>
            <a:r>
              <a:rPr dirty="0" sz="3600" spc="-125" b="1">
                <a:latin typeface="Tahoma"/>
                <a:cs typeface="Tahoma"/>
              </a:rPr>
              <a:t> </a:t>
            </a:r>
            <a:r>
              <a:rPr dirty="0" sz="3600" spc="-530" b="1">
                <a:latin typeface="Tahoma"/>
                <a:cs typeface="Tahoma"/>
              </a:rPr>
              <a:t>2%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50" b="1">
                <a:latin typeface="Tahoma"/>
                <a:cs typeface="Tahoma"/>
              </a:rPr>
              <a:t>conversion </a:t>
            </a:r>
            <a:r>
              <a:rPr dirty="0" sz="3600" spc="-155" b="1">
                <a:latin typeface="Tahoma"/>
                <a:cs typeface="Tahoma"/>
              </a:rPr>
              <a:t>from</a:t>
            </a:r>
            <a:r>
              <a:rPr dirty="0" sz="3600" spc="-110" b="1">
                <a:latin typeface="Tahoma"/>
                <a:cs typeface="Tahoma"/>
              </a:rPr>
              <a:t> </a:t>
            </a:r>
            <a:r>
              <a:rPr dirty="0" sz="3600" spc="-60" b="1">
                <a:latin typeface="Tahoma"/>
                <a:cs typeface="Tahoma"/>
              </a:rPr>
              <a:t>Free</a:t>
            </a:r>
            <a:r>
              <a:rPr dirty="0" sz="3600" spc="-200" b="1">
                <a:latin typeface="Tahoma"/>
                <a:cs typeface="Tahoma"/>
              </a:rPr>
              <a:t> </a:t>
            </a:r>
            <a:r>
              <a:rPr dirty="0" sz="3600" spc="-55" b="1">
                <a:latin typeface="Tahoma"/>
                <a:cs typeface="Tahoma"/>
              </a:rPr>
              <a:t>to</a:t>
            </a:r>
            <a:r>
              <a:rPr dirty="0" sz="3600" spc="-195" b="1">
                <a:latin typeface="Tahoma"/>
                <a:cs typeface="Tahoma"/>
              </a:rPr>
              <a:t> </a:t>
            </a:r>
            <a:r>
              <a:rPr dirty="0" sz="3600" spc="-45" b="1">
                <a:latin typeface="Tahoma"/>
                <a:cs typeface="Tahoma"/>
              </a:rPr>
              <a:t>Paid</a:t>
            </a:r>
            <a:r>
              <a:rPr dirty="0" sz="3600" spc="-170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plans</a:t>
            </a:r>
            <a:endParaRPr sz="3600">
              <a:latin typeface="Tahoma"/>
              <a:cs typeface="Tahoma"/>
            </a:endParaRPr>
          </a:p>
          <a:p>
            <a:pPr marL="584200" marR="5080" indent="-571500">
              <a:lnSpc>
                <a:spcPct val="101899"/>
              </a:lnSpc>
              <a:spcBef>
                <a:spcPts val="2400"/>
              </a:spcBef>
              <a:buChar char="•"/>
              <a:tabLst>
                <a:tab pos="584200" algn="l"/>
              </a:tabLst>
            </a:pPr>
            <a:r>
              <a:rPr dirty="0" sz="3600" spc="-530" b="1">
                <a:latin typeface="Tahoma"/>
                <a:cs typeface="Tahoma"/>
              </a:rPr>
              <a:t>5%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85" b="1">
                <a:latin typeface="Tahoma"/>
                <a:cs typeface="Tahoma"/>
              </a:rPr>
              <a:t>churn</a:t>
            </a:r>
            <a:r>
              <a:rPr dirty="0" sz="3600" spc="-180" b="1">
                <a:latin typeface="Tahoma"/>
                <a:cs typeface="Tahoma"/>
              </a:rPr>
              <a:t> </a:t>
            </a:r>
            <a:r>
              <a:rPr dirty="0" sz="3600" spc="-90" b="1">
                <a:latin typeface="Tahoma"/>
                <a:cs typeface="Tahoma"/>
              </a:rPr>
              <a:t>equates</a:t>
            </a:r>
            <a:r>
              <a:rPr dirty="0" sz="3600" spc="-170" b="1">
                <a:latin typeface="Tahoma"/>
                <a:cs typeface="Tahoma"/>
              </a:rPr>
              <a:t> </a:t>
            </a:r>
            <a:r>
              <a:rPr dirty="0" sz="3600" spc="-55" b="1">
                <a:latin typeface="Tahoma"/>
                <a:cs typeface="Tahoma"/>
              </a:rPr>
              <a:t>to</a:t>
            </a:r>
            <a:r>
              <a:rPr dirty="0" sz="3600" spc="-210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a</a:t>
            </a:r>
            <a:r>
              <a:rPr dirty="0" sz="3600" spc="-229" b="1">
                <a:latin typeface="Tahoma"/>
                <a:cs typeface="Tahoma"/>
              </a:rPr>
              <a:t> </a:t>
            </a:r>
            <a:r>
              <a:rPr dirty="0" sz="3600" spc="-130" b="1">
                <a:latin typeface="Tahoma"/>
                <a:cs typeface="Tahoma"/>
              </a:rPr>
              <a:t>LTV </a:t>
            </a:r>
            <a:r>
              <a:rPr dirty="0" sz="3600" spc="-10" b="1">
                <a:latin typeface="Tahoma"/>
                <a:cs typeface="Tahoma"/>
              </a:rPr>
              <a:t>of</a:t>
            </a:r>
            <a:r>
              <a:rPr dirty="0" sz="3600" spc="-145" b="1">
                <a:latin typeface="Tahoma"/>
                <a:cs typeface="Tahoma"/>
              </a:rPr>
              <a:t> </a:t>
            </a:r>
            <a:r>
              <a:rPr dirty="0" sz="3600" spc="-300" b="1">
                <a:latin typeface="Tahoma"/>
                <a:cs typeface="Tahoma"/>
              </a:rPr>
              <a:t>$240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65" b="1">
                <a:latin typeface="Tahoma"/>
                <a:cs typeface="Tahoma"/>
              </a:rPr>
              <a:t>and</a:t>
            </a:r>
            <a:r>
              <a:rPr dirty="0" sz="3600" spc="-150" b="1">
                <a:latin typeface="Tahoma"/>
                <a:cs typeface="Tahoma"/>
              </a:rPr>
              <a:t> </a:t>
            </a:r>
            <a:r>
              <a:rPr dirty="0" sz="3600" spc="-100" b="1">
                <a:latin typeface="Tahoma"/>
                <a:cs typeface="Tahoma"/>
              </a:rPr>
              <a:t>allows</a:t>
            </a:r>
            <a:r>
              <a:rPr dirty="0" sz="3600" spc="-145" b="1">
                <a:latin typeface="Tahoma"/>
                <a:cs typeface="Tahoma"/>
              </a:rPr>
              <a:t> </a:t>
            </a:r>
            <a:r>
              <a:rPr dirty="0" sz="3600" spc="-25" b="1">
                <a:latin typeface="Tahoma"/>
                <a:cs typeface="Tahoma"/>
              </a:rPr>
              <a:t>us </a:t>
            </a:r>
            <a:r>
              <a:rPr dirty="0" sz="3600" spc="-55" b="1">
                <a:latin typeface="Tahoma"/>
                <a:cs typeface="Tahoma"/>
              </a:rPr>
              <a:t>to</a:t>
            </a:r>
            <a:r>
              <a:rPr dirty="0" sz="3600" spc="-210" b="1">
                <a:latin typeface="Tahoma"/>
                <a:cs typeface="Tahoma"/>
              </a:rPr>
              <a:t> </a:t>
            </a:r>
            <a:r>
              <a:rPr dirty="0" sz="3600" spc="-100" b="1">
                <a:latin typeface="Tahoma"/>
                <a:cs typeface="Tahoma"/>
              </a:rPr>
              <a:t>pay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spc="-30" b="1">
                <a:latin typeface="Tahoma"/>
                <a:cs typeface="Tahoma"/>
              </a:rPr>
              <a:t>up</a:t>
            </a:r>
            <a:r>
              <a:rPr dirty="0" sz="3600" spc="-235" b="1">
                <a:latin typeface="Tahoma"/>
                <a:cs typeface="Tahoma"/>
              </a:rPr>
              <a:t> </a:t>
            </a:r>
            <a:r>
              <a:rPr dirty="0" sz="3600" spc="-55" b="1">
                <a:latin typeface="Tahoma"/>
                <a:cs typeface="Tahoma"/>
              </a:rPr>
              <a:t>to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spc="-300" b="1">
                <a:latin typeface="Tahoma"/>
                <a:cs typeface="Tahoma"/>
              </a:rPr>
              <a:t>$5</a:t>
            </a:r>
            <a:r>
              <a:rPr dirty="0" sz="3600" spc="-55" b="1">
                <a:latin typeface="Tahoma"/>
                <a:cs typeface="Tahoma"/>
              </a:rPr>
              <a:t> to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spc="-90" b="1">
                <a:latin typeface="Tahoma"/>
                <a:cs typeface="Tahoma"/>
              </a:rPr>
              <a:t>acquire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a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spc="-135" b="1">
                <a:latin typeface="Tahoma"/>
                <a:cs typeface="Tahoma"/>
              </a:rPr>
              <a:t>free</a:t>
            </a:r>
            <a:r>
              <a:rPr dirty="0" sz="3600" spc="-130" b="1">
                <a:latin typeface="Tahoma"/>
                <a:cs typeface="Tahoma"/>
              </a:rPr>
              <a:t> </a:t>
            </a:r>
            <a:r>
              <a:rPr dirty="0" sz="3600" spc="-20" b="1">
                <a:latin typeface="Tahoma"/>
                <a:cs typeface="Tahoma"/>
              </a:rPr>
              <a:t>user</a:t>
            </a:r>
            <a:endParaRPr sz="3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2480"/>
              </a:spcBef>
              <a:buChar char="•"/>
              <a:tabLst>
                <a:tab pos="583565" algn="l"/>
              </a:tabLst>
            </a:pPr>
            <a:r>
              <a:rPr dirty="0" sz="3600" spc="-35" b="1">
                <a:latin typeface="Tahoma"/>
                <a:cs typeface="Tahoma"/>
              </a:rPr>
              <a:t>At</a:t>
            </a:r>
            <a:r>
              <a:rPr dirty="0" sz="3600" spc="-190" b="1">
                <a:latin typeface="Tahoma"/>
                <a:cs typeface="Tahoma"/>
              </a:rPr>
              <a:t> </a:t>
            </a:r>
            <a:r>
              <a:rPr dirty="0" sz="3600" spc="-75" b="1">
                <a:latin typeface="Tahoma"/>
                <a:cs typeface="Tahoma"/>
              </a:rPr>
              <a:t>1M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spc="-55" b="1">
                <a:latin typeface="Tahoma"/>
                <a:cs typeface="Tahoma"/>
              </a:rPr>
              <a:t>users,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spc="-85" b="1">
                <a:latin typeface="Tahoma"/>
                <a:cs typeface="Tahoma"/>
              </a:rPr>
              <a:t>our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spc="-100" b="1">
                <a:latin typeface="Tahoma"/>
                <a:cs typeface="Tahoma"/>
              </a:rPr>
              <a:t>projected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spc="-140" b="1">
                <a:latin typeface="Tahoma"/>
                <a:cs typeface="Tahoma"/>
              </a:rPr>
              <a:t>revenue</a:t>
            </a:r>
            <a:r>
              <a:rPr dirty="0" sz="3600" spc="-120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is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$3.6M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-6350"/>
            <a:ext cx="13017500" cy="9766300"/>
            <a:chOff x="-6350" y="-6350"/>
            <a:chExt cx="13017500" cy="97663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00" y="8953500"/>
              <a:ext cx="2895600" cy="571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9753600"/>
                  </a:moveTo>
                  <a:lnTo>
                    <a:pt x="13004800" y="9753600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9753600"/>
                  </a:lnTo>
                  <a:close/>
                </a:path>
              </a:pathLst>
            </a:custGeom>
            <a:ln w="1270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15786" y="355600"/>
            <a:ext cx="6560820" cy="260096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484505" marR="5080" indent="-472440">
              <a:lnSpc>
                <a:spcPts val="10200"/>
              </a:lnSpc>
              <a:spcBef>
                <a:spcPts val="140"/>
              </a:spcBef>
            </a:pPr>
            <a:r>
              <a:rPr dirty="0" spc="-10"/>
              <a:t>Social</a:t>
            </a:r>
            <a:r>
              <a:rPr dirty="0" spc="-575"/>
              <a:t> </a:t>
            </a:r>
            <a:r>
              <a:rPr dirty="0" spc="-165"/>
              <a:t>Media </a:t>
            </a:r>
            <a:r>
              <a:rPr dirty="0" spc="-10"/>
              <a:t>Landscape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6000" y="3164839"/>
            <a:ext cx="10904220" cy="4597400"/>
          </a:xfrm>
          <a:prstGeom prst="rect">
            <a:avLst/>
          </a:prstGeom>
        </p:spPr>
        <p:txBody>
          <a:bodyPr wrap="square" lIns="0" tIns="327660" rIns="0" bIns="0" rtlCol="0" vert="horz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2580"/>
              </a:spcBef>
              <a:buChar char="•"/>
              <a:tabLst>
                <a:tab pos="583565" algn="l"/>
              </a:tabLst>
            </a:pPr>
            <a:r>
              <a:rPr dirty="0" sz="3600" b="1">
                <a:latin typeface="Tahoma"/>
                <a:cs typeface="Tahoma"/>
              </a:rPr>
              <a:t>Of</a:t>
            </a:r>
            <a:r>
              <a:rPr dirty="0" sz="3600" spc="-225" b="1">
                <a:latin typeface="Tahoma"/>
                <a:cs typeface="Tahoma"/>
              </a:rPr>
              <a:t> </a:t>
            </a:r>
            <a:r>
              <a:rPr dirty="0" sz="3600" spc="-204" b="1">
                <a:latin typeface="Tahoma"/>
                <a:cs typeface="Tahoma"/>
              </a:rPr>
              <a:t>200M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125" b="1">
                <a:latin typeface="Tahoma"/>
                <a:cs typeface="Tahoma"/>
              </a:rPr>
              <a:t>daily</a:t>
            </a:r>
            <a:r>
              <a:rPr dirty="0" sz="3600" spc="-110" b="1">
                <a:latin typeface="Tahoma"/>
                <a:cs typeface="Tahoma"/>
              </a:rPr>
              <a:t> </a:t>
            </a:r>
            <a:r>
              <a:rPr dirty="0" sz="3600" spc="-160" b="1">
                <a:latin typeface="Tahoma"/>
                <a:cs typeface="Tahoma"/>
              </a:rPr>
              <a:t>Tweets,</a:t>
            </a:r>
            <a:r>
              <a:rPr dirty="0" sz="3600" spc="-100" b="1">
                <a:latin typeface="Tahoma"/>
                <a:cs typeface="Tahoma"/>
              </a:rPr>
              <a:t> </a:t>
            </a:r>
            <a:r>
              <a:rPr dirty="0" sz="3600" spc="-445" b="1">
                <a:latin typeface="Tahoma"/>
                <a:cs typeface="Tahoma"/>
              </a:rPr>
              <a:t>55%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85" b="1">
                <a:latin typeface="Tahoma"/>
                <a:cs typeface="Tahoma"/>
              </a:rPr>
              <a:t>contain</a:t>
            </a:r>
            <a:r>
              <a:rPr dirty="0" sz="3600" spc="-110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links</a:t>
            </a:r>
            <a:endParaRPr sz="3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2480"/>
              </a:spcBef>
              <a:buChar char="•"/>
              <a:tabLst>
                <a:tab pos="583565" algn="l"/>
              </a:tabLst>
            </a:pPr>
            <a:r>
              <a:rPr dirty="0" sz="3600" spc="-300" b="1">
                <a:latin typeface="Tahoma"/>
                <a:cs typeface="Tahoma"/>
              </a:rPr>
              <a:t>4</a:t>
            </a:r>
            <a:r>
              <a:rPr dirty="0" sz="3600" spc="-55" b="1">
                <a:latin typeface="Tahoma"/>
                <a:cs typeface="Tahoma"/>
              </a:rPr>
              <a:t> </a:t>
            </a:r>
            <a:r>
              <a:rPr dirty="0" sz="3600" spc="-135" b="1">
                <a:latin typeface="Tahoma"/>
                <a:cs typeface="Tahoma"/>
              </a:rPr>
              <a:t>billion</a:t>
            </a:r>
            <a:r>
              <a:rPr dirty="0" sz="3600" spc="-130" b="1">
                <a:latin typeface="Tahoma"/>
                <a:cs typeface="Tahoma"/>
              </a:rPr>
              <a:t> </a:t>
            </a:r>
            <a:r>
              <a:rPr dirty="0" sz="3600" spc="-100" b="1">
                <a:latin typeface="Tahoma"/>
                <a:cs typeface="Tahoma"/>
              </a:rPr>
              <a:t>items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spc="-90" b="1">
                <a:latin typeface="Tahoma"/>
                <a:cs typeface="Tahoma"/>
              </a:rPr>
              <a:t>shared</a:t>
            </a:r>
            <a:r>
              <a:rPr dirty="0" sz="3600" spc="-175" b="1">
                <a:latin typeface="Tahoma"/>
                <a:cs typeface="Tahoma"/>
              </a:rPr>
              <a:t> </a:t>
            </a:r>
            <a:r>
              <a:rPr dirty="0" sz="3600" spc="-20" b="1">
                <a:latin typeface="Tahoma"/>
                <a:cs typeface="Tahoma"/>
              </a:rPr>
              <a:t>on</a:t>
            </a:r>
            <a:r>
              <a:rPr dirty="0" sz="3600" spc="-240" b="1">
                <a:latin typeface="Tahoma"/>
                <a:cs typeface="Tahoma"/>
              </a:rPr>
              <a:t> </a:t>
            </a:r>
            <a:r>
              <a:rPr dirty="0" sz="3600" spc="-25" b="1">
                <a:latin typeface="Tahoma"/>
                <a:cs typeface="Tahoma"/>
              </a:rPr>
              <a:t>Facebook</a:t>
            </a:r>
            <a:r>
              <a:rPr dirty="0" sz="3600" spc="-195" b="1">
                <a:latin typeface="Tahoma"/>
                <a:cs typeface="Tahoma"/>
              </a:rPr>
              <a:t> </a:t>
            </a:r>
            <a:r>
              <a:rPr dirty="0" sz="3600" spc="-50" b="1">
                <a:latin typeface="Tahoma"/>
                <a:cs typeface="Tahoma"/>
              </a:rPr>
              <a:t>per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spc="-25" b="1">
                <a:latin typeface="Tahoma"/>
                <a:cs typeface="Tahoma"/>
              </a:rPr>
              <a:t>day</a:t>
            </a:r>
            <a:endParaRPr sz="3600">
              <a:latin typeface="Tahoma"/>
              <a:cs typeface="Tahoma"/>
            </a:endParaRPr>
          </a:p>
          <a:p>
            <a:pPr marL="584200" marR="5080" indent="-571500">
              <a:lnSpc>
                <a:spcPct val="101899"/>
              </a:lnSpc>
              <a:spcBef>
                <a:spcPts val="2395"/>
              </a:spcBef>
              <a:buChar char="•"/>
              <a:tabLst>
                <a:tab pos="584200" algn="l"/>
              </a:tabLst>
            </a:pPr>
            <a:r>
              <a:rPr dirty="0" sz="3600" spc="-85" b="1">
                <a:latin typeface="Tahoma"/>
                <a:cs typeface="Tahoma"/>
              </a:rPr>
              <a:t>Zuckerberg’s</a:t>
            </a:r>
            <a:r>
              <a:rPr dirty="0" sz="3600" spc="-165" b="1">
                <a:latin typeface="Tahoma"/>
                <a:cs typeface="Tahoma"/>
              </a:rPr>
              <a:t> </a:t>
            </a:r>
            <a:r>
              <a:rPr dirty="0" sz="3600" spc="-45" b="1">
                <a:latin typeface="Tahoma"/>
                <a:cs typeface="Tahoma"/>
              </a:rPr>
              <a:t>Law</a:t>
            </a:r>
            <a:r>
              <a:rPr dirty="0" sz="3600" spc="-130" b="1">
                <a:latin typeface="Tahoma"/>
                <a:cs typeface="Tahoma"/>
              </a:rPr>
              <a:t> </a:t>
            </a:r>
            <a:r>
              <a:rPr dirty="0" sz="3600" spc="-35" b="1">
                <a:latin typeface="Tahoma"/>
                <a:cs typeface="Tahoma"/>
              </a:rPr>
              <a:t>shows</a:t>
            </a:r>
            <a:r>
              <a:rPr dirty="0" sz="3600" spc="-125" b="1">
                <a:latin typeface="Tahoma"/>
                <a:cs typeface="Tahoma"/>
              </a:rPr>
              <a:t> </a:t>
            </a:r>
            <a:r>
              <a:rPr dirty="0" sz="3600" spc="-135" b="1">
                <a:latin typeface="Tahoma"/>
                <a:cs typeface="Tahoma"/>
              </a:rPr>
              <a:t>exponential</a:t>
            </a:r>
            <a:r>
              <a:rPr dirty="0" sz="3600" spc="-130" b="1">
                <a:latin typeface="Tahoma"/>
                <a:cs typeface="Tahoma"/>
              </a:rPr>
              <a:t> </a:t>
            </a:r>
            <a:r>
              <a:rPr dirty="0" sz="3600" spc="-170" b="1">
                <a:latin typeface="Tahoma"/>
                <a:cs typeface="Tahoma"/>
              </a:rPr>
              <a:t>growth</a:t>
            </a:r>
            <a:r>
              <a:rPr dirty="0" sz="3600" spc="-90" b="1">
                <a:latin typeface="Tahoma"/>
                <a:cs typeface="Tahoma"/>
              </a:rPr>
              <a:t> </a:t>
            </a:r>
            <a:r>
              <a:rPr dirty="0" sz="3600" spc="-25" b="1">
                <a:latin typeface="Tahoma"/>
                <a:cs typeface="Tahoma"/>
              </a:rPr>
              <a:t>of </a:t>
            </a:r>
            <a:r>
              <a:rPr dirty="0" sz="3600" spc="-10" b="1">
                <a:latin typeface="Tahoma"/>
                <a:cs typeface="Tahoma"/>
              </a:rPr>
              <a:t>sharing</a:t>
            </a:r>
            <a:endParaRPr sz="3600">
              <a:latin typeface="Tahoma"/>
              <a:cs typeface="Tahoma"/>
            </a:endParaRPr>
          </a:p>
          <a:p>
            <a:pPr marL="584200" marR="160655" indent="-571500">
              <a:lnSpc>
                <a:spcPct val="101899"/>
              </a:lnSpc>
              <a:spcBef>
                <a:spcPts val="2400"/>
              </a:spcBef>
              <a:buChar char="•"/>
              <a:tabLst>
                <a:tab pos="584200" algn="l"/>
              </a:tabLst>
            </a:pPr>
            <a:r>
              <a:rPr dirty="0" sz="3600" spc="-125" b="1">
                <a:latin typeface="Tahoma"/>
                <a:cs typeface="Tahoma"/>
              </a:rPr>
              <a:t>Traffic</a:t>
            </a:r>
            <a:r>
              <a:rPr dirty="0" sz="3600" spc="-140" b="1">
                <a:latin typeface="Tahoma"/>
                <a:cs typeface="Tahoma"/>
              </a:rPr>
              <a:t> </a:t>
            </a:r>
            <a:r>
              <a:rPr dirty="0" sz="3600" spc="-155" b="1">
                <a:latin typeface="Tahoma"/>
                <a:cs typeface="Tahoma"/>
              </a:rPr>
              <a:t>through</a:t>
            </a:r>
            <a:r>
              <a:rPr dirty="0" sz="3600" spc="-10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social</a:t>
            </a:r>
            <a:r>
              <a:rPr dirty="0" sz="3600" spc="-26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is</a:t>
            </a:r>
            <a:r>
              <a:rPr dirty="0" sz="3600" spc="-18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soon</a:t>
            </a:r>
            <a:r>
              <a:rPr dirty="0" sz="3600" spc="-170" b="1">
                <a:latin typeface="Tahoma"/>
                <a:cs typeface="Tahoma"/>
              </a:rPr>
              <a:t> </a:t>
            </a:r>
            <a:r>
              <a:rPr dirty="0" sz="3600" spc="-55" b="1">
                <a:latin typeface="Tahoma"/>
                <a:cs typeface="Tahoma"/>
              </a:rPr>
              <a:t>to</a:t>
            </a:r>
            <a:r>
              <a:rPr dirty="0" sz="3600" spc="-175" b="1">
                <a:latin typeface="Tahoma"/>
                <a:cs typeface="Tahoma"/>
              </a:rPr>
              <a:t> </a:t>
            </a:r>
            <a:r>
              <a:rPr dirty="0" sz="3600" spc="-20" b="1">
                <a:latin typeface="Tahoma"/>
                <a:cs typeface="Tahoma"/>
              </a:rPr>
              <a:t>surpass</a:t>
            </a:r>
            <a:r>
              <a:rPr dirty="0" sz="3600" spc="-175" b="1">
                <a:latin typeface="Tahoma"/>
                <a:cs typeface="Tahoma"/>
              </a:rPr>
              <a:t> </a:t>
            </a:r>
            <a:r>
              <a:rPr dirty="0" sz="3600" spc="-75" b="1">
                <a:latin typeface="Tahoma"/>
                <a:cs typeface="Tahoma"/>
              </a:rPr>
              <a:t>traffic </a:t>
            </a:r>
            <a:r>
              <a:rPr dirty="0" sz="3600" spc="-155" b="1">
                <a:latin typeface="Tahoma"/>
                <a:cs typeface="Tahoma"/>
              </a:rPr>
              <a:t>from</a:t>
            </a:r>
            <a:r>
              <a:rPr dirty="0" sz="3600" spc="-80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search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-6350"/>
            <a:ext cx="13017500" cy="9766300"/>
            <a:chOff x="-6350" y="-6350"/>
            <a:chExt cx="13017500" cy="97663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00" y="8953500"/>
              <a:ext cx="2895600" cy="571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9753600"/>
                  </a:moveTo>
                  <a:lnTo>
                    <a:pt x="13004800" y="9753600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9753600"/>
                  </a:lnTo>
                  <a:close/>
                </a:path>
              </a:pathLst>
            </a:custGeom>
            <a:ln w="1270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The</a:t>
            </a:r>
            <a:r>
              <a:rPr dirty="0" spc="-260"/>
              <a:t> </a:t>
            </a:r>
            <a:r>
              <a:rPr dirty="0" spc="-265"/>
              <a:t>effect</a:t>
            </a:r>
            <a:r>
              <a:rPr dirty="0" spc="-254"/>
              <a:t> of </a:t>
            </a:r>
            <a:r>
              <a:rPr dirty="0" spc="-330"/>
              <a:t>Buffering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5803900"/>
            <a:ext cx="4648200" cy="1028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34284" y="4140200"/>
            <a:ext cx="9123680" cy="14935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98120" marR="5080" indent="-186055">
              <a:lnSpc>
                <a:spcPct val="100699"/>
              </a:lnSpc>
              <a:spcBef>
                <a:spcPts val="60"/>
              </a:spcBef>
            </a:pPr>
            <a:r>
              <a:rPr dirty="0" sz="4800" spc="-160" b="1">
                <a:latin typeface="Tahoma"/>
                <a:cs typeface="Tahoma"/>
              </a:rPr>
              <a:t>“Buffer</a:t>
            </a:r>
            <a:r>
              <a:rPr dirty="0" sz="4800" spc="-195" b="1">
                <a:latin typeface="Tahoma"/>
                <a:cs typeface="Tahoma"/>
              </a:rPr>
              <a:t> </a:t>
            </a:r>
            <a:r>
              <a:rPr dirty="0" sz="4800" spc="-30" b="1">
                <a:latin typeface="Tahoma"/>
                <a:cs typeface="Tahoma"/>
              </a:rPr>
              <a:t>Finds</a:t>
            </a:r>
            <a:r>
              <a:rPr dirty="0" sz="4800" spc="-265" b="1">
                <a:latin typeface="Tahoma"/>
                <a:cs typeface="Tahoma"/>
              </a:rPr>
              <a:t> </a:t>
            </a:r>
            <a:r>
              <a:rPr dirty="0" sz="4800" spc="-740" b="1">
                <a:latin typeface="Tahoma"/>
                <a:cs typeface="Tahoma"/>
              </a:rPr>
              <a:t>T</a:t>
            </a:r>
            <a:r>
              <a:rPr dirty="0" sz="4800" spc="-195" b="1">
                <a:latin typeface="Tahoma"/>
                <a:cs typeface="Tahoma"/>
              </a:rPr>
              <a:t>weet</a:t>
            </a:r>
            <a:r>
              <a:rPr dirty="0" sz="4800" spc="-75" b="1">
                <a:latin typeface="Tahoma"/>
                <a:cs typeface="Tahoma"/>
              </a:rPr>
              <a:t> </a:t>
            </a:r>
            <a:r>
              <a:rPr dirty="0" sz="4800" spc="-105" b="1">
                <a:latin typeface="Tahoma"/>
                <a:cs typeface="Tahoma"/>
              </a:rPr>
              <a:t>Scheduling </a:t>
            </a:r>
            <a:r>
              <a:rPr dirty="0" sz="4800" b="1">
                <a:latin typeface="Tahoma"/>
                <a:cs typeface="Tahoma"/>
              </a:rPr>
              <a:t>Can</a:t>
            </a:r>
            <a:r>
              <a:rPr dirty="0" sz="4800" spc="-130" b="1">
                <a:latin typeface="Tahoma"/>
                <a:cs typeface="Tahoma"/>
              </a:rPr>
              <a:t> </a:t>
            </a:r>
            <a:r>
              <a:rPr dirty="0" sz="4800" spc="-180" b="1">
                <a:latin typeface="Tahoma"/>
                <a:cs typeface="Tahoma"/>
              </a:rPr>
              <a:t>Increase</a:t>
            </a:r>
            <a:r>
              <a:rPr dirty="0" sz="4800" spc="-125" b="1">
                <a:latin typeface="Tahoma"/>
                <a:cs typeface="Tahoma"/>
              </a:rPr>
              <a:t> </a:t>
            </a:r>
            <a:r>
              <a:rPr dirty="0" sz="4800" b="1">
                <a:latin typeface="Tahoma"/>
                <a:cs typeface="Tahoma"/>
              </a:rPr>
              <a:t>Clicks</a:t>
            </a:r>
            <a:r>
              <a:rPr dirty="0" sz="4800" spc="-130" b="1">
                <a:latin typeface="Tahoma"/>
                <a:cs typeface="Tahoma"/>
              </a:rPr>
              <a:t> </a:t>
            </a:r>
            <a:r>
              <a:rPr dirty="0" sz="4800" spc="-135" b="1">
                <a:latin typeface="Tahoma"/>
                <a:cs typeface="Tahoma"/>
              </a:rPr>
              <a:t>by</a:t>
            </a:r>
            <a:r>
              <a:rPr dirty="0" sz="4800" spc="-125" b="1">
                <a:latin typeface="Tahoma"/>
                <a:cs typeface="Tahoma"/>
              </a:rPr>
              <a:t> </a:t>
            </a:r>
            <a:r>
              <a:rPr dirty="0" sz="4800" spc="-495" b="1">
                <a:latin typeface="Tahoma"/>
                <a:cs typeface="Tahoma"/>
              </a:rPr>
              <a:t>200%”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300" y="8953500"/>
            <a:ext cx="2895600" cy="5715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9725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114"/>
              <a:t> </a:t>
            </a:r>
            <a:r>
              <a:rPr dirty="0" spc="-275"/>
              <a:t>sharing</a:t>
            </a:r>
            <a:r>
              <a:rPr dirty="0" spc="-114"/>
              <a:t> </a:t>
            </a:r>
            <a:r>
              <a:rPr dirty="0" spc="-280"/>
              <a:t>standard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98600" y="3098800"/>
            <a:ext cx="4020820" cy="322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0"/>
              </a:spcBef>
              <a:buChar char="-"/>
              <a:tabLst>
                <a:tab pos="583565" algn="l"/>
              </a:tabLst>
            </a:pPr>
            <a:r>
              <a:rPr dirty="0" sz="2800" spc="-240" b="1">
                <a:latin typeface="Tahoma"/>
                <a:cs typeface="Tahoma"/>
              </a:rPr>
              <a:t>6</a:t>
            </a:r>
            <a:r>
              <a:rPr dirty="0" sz="2800" spc="-45" b="1">
                <a:latin typeface="Tahoma"/>
                <a:cs typeface="Tahoma"/>
              </a:rPr>
              <a:t> </a:t>
            </a:r>
            <a:r>
              <a:rPr dirty="0" sz="2800" spc="-95" b="1">
                <a:latin typeface="Tahoma"/>
                <a:cs typeface="Tahoma"/>
              </a:rPr>
              <a:t>integrations</a:t>
            </a:r>
            <a:r>
              <a:rPr dirty="0" sz="2800" spc="-60" b="1">
                <a:latin typeface="Tahoma"/>
                <a:cs typeface="Tahoma"/>
              </a:rPr>
              <a:t> </a:t>
            </a:r>
            <a:r>
              <a:rPr dirty="0" sz="2800" b="1">
                <a:latin typeface="Tahoma"/>
                <a:cs typeface="Tahoma"/>
              </a:rPr>
              <a:t>so</a:t>
            </a:r>
            <a:r>
              <a:rPr dirty="0" sz="2800" spc="-50" b="1">
                <a:latin typeface="Tahoma"/>
                <a:cs typeface="Tahoma"/>
              </a:rPr>
              <a:t> </a:t>
            </a:r>
            <a:r>
              <a:rPr dirty="0" sz="2800" spc="-25" b="1">
                <a:latin typeface="Tahoma"/>
                <a:cs typeface="Tahoma"/>
              </a:rPr>
              <a:t>far</a:t>
            </a:r>
            <a:endParaRPr sz="2800">
              <a:latin typeface="Tahoma"/>
              <a:cs typeface="Tahoma"/>
            </a:endParaRPr>
          </a:p>
          <a:p>
            <a:pPr algn="just" marL="584200" marR="5080" indent="-571500">
              <a:lnSpc>
                <a:spcPct val="101200"/>
              </a:lnSpc>
              <a:spcBef>
                <a:spcPts val="2400"/>
              </a:spcBef>
              <a:buChar char="-"/>
              <a:tabLst>
                <a:tab pos="584200" algn="l"/>
                <a:tab pos="585470" algn="l"/>
              </a:tabLst>
            </a:pPr>
            <a:r>
              <a:rPr dirty="0" sz="2800" b="1">
                <a:latin typeface="Tahoma"/>
                <a:cs typeface="Tahoma"/>
              </a:rPr>
              <a:t>	</a:t>
            </a:r>
            <a:r>
              <a:rPr dirty="0" sz="2800" spc="-105" b="1">
                <a:latin typeface="Tahoma"/>
                <a:cs typeface="Tahoma"/>
              </a:rPr>
              <a:t>in </a:t>
            </a:r>
            <a:r>
              <a:rPr dirty="0" sz="2800" spc="-65" b="1">
                <a:latin typeface="Tahoma"/>
                <a:cs typeface="Tahoma"/>
              </a:rPr>
              <a:t>talks</a:t>
            </a:r>
            <a:r>
              <a:rPr dirty="0" sz="2800" spc="-100" b="1">
                <a:latin typeface="Tahoma"/>
                <a:cs typeface="Tahoma"/>
              </a:rPr>
              <a:t> </a:t>
            </a:r>
            <a:r>
              <a:rPr dirty="0" sz="2800" spc="-185" b="1">
                <a:latin typeface="Tahoma"/>
                <a:cs typeface="Tahoma"/>
              </a:rPr>
              <a:t>with</a:t>
            </a:r>
            <a:r>
              <a:rPr dirty="0" sz="2800" spc="-20" b="1">
                <a:latin typeface="Tahoma"/>
                <a:cs typeface="Tahoma"/>
              </a:rPr>
              <a:t> </a:t>
            </a:r>
            <a:r>
              <a:rPr dirty="0" sz="2800" spc="-105" b="1">
                <a:latin typeface="Tahoma"/>
                <a:cs typeface="Tahoma"/>
              </a:rPr>
              <a:t>Reeder, </a:t>
            </a:r>
            <a:r>
              <a:rPr dirty="0" sz="2800" spc="-10" b="1">
                <a:latin typeface="Tahoma"/>
                <a:cs typeface="Tahoma"/>
              </a:rPr>
              <a:t>Pocket</a:t>
            </a:r>
            <a:r>
              <a:rPr dirty="0" sz="2800" spc="-180" b="1">
                <a:latin typeface="Tahoma"/>
                <a:cs typeface="Tahoma"/>
              </a:rPr>
              <a:t> </a:t>
            </a:r>
            <a:r>
              <a:rPr dirty="0" sz="2800" spc="-50" b="1">
                <a:latin typeface="Tahoma"/>
                <a:cs typeface="Tahoma"/>
              </a:rPr>
              <a:t>and</a:t>
            </a:r>
            <a:r>
              <a:rPr dirty="0" sz="2800" spc="-155" b="1">
                <a:latin typeface="Tahoma"/>
                <a:cs typeface="Tahoma"/>
              </a:rPr>
              <a:t> </a:t>
            </a:r>
            <a:r>
              <a:rPr dirty="0" sz="2800" spc="-10" b="1">
                <a:latin typeface="Tahoma"/>
                <a:cs typeface="Tahoma"/>
              </a:rPr>
              <a:t>Feedly</a:t>
            </a:r>
            <a:endParaRPr sz="2800">
              <a:latin typeface="Tahoma"/>
              <a:cs typeface="Tahoma"/>
            </a:endParaRPr>
          </a:p>
          <a:p>
            <a:pPr algn="just" marL="584200" marR="88900" indent="-571500">
              <a:lnSpc>
                <a:spcPct val="101200"/>
              </a:lnSpc>
              <a:spcBef>
                <a:spcPts val="2400"/>
              </a:spcBef>
              <a:buChar char="-"/>
              <a:tabLst>
                <a:tab pos="584200" algn="l"/>
                <a:tab pos="585470" algn="l"/>
              </a:tabLst>
            </a:pPr>
            <a:r>
              <a:rPr dirty="0" sz="2800" b="1">
                <a:latin typeface="Tahoma"/>
                <a:cs typeface="Tahoma"/>
              </a:rPr>
              <a:t>	</a:t>
            </a:r>
            <a:r>
              <a:rPr dirty="0" sz="2800" spc="-330" b="1">
                <a:latin typeface="Tahoma"/>
                <a:cs typeface="Tahoma"/>
              </a:rPr>
              <a:t>We</a:t>
            </a:r>
            <a:r>
              <a:rPr dirty="0" sz="2800" spc="120" b="1">
                <a:latin typeface="Tahoma"/>
                <a:cs typeface="Tahoma"/>
              </a:rPr>
              <a:t> </a:t>
            </a:r>
            <a:r>
              <a:rPr dirty="0" sz="2800" spc="-90" b="1">
                <a:latin typeface="Tahoma"/>
                <a:cs typeface="Tahoma"/>
              </a:rPr>
              <a:t>plan</a:t>
            </a:r>
            <a:r>
              <a:rPr dirty="0" sz="2800" spc="-114" b="1">
                <a:latin typeface="Tahoma"/>
                <a:cs typeface="Tahoma"/>
              </a:rPr>
              <a:t> </a:t>
            </a:r>
            <a:r>
              <a:rPr dirty="0" sz="2800" spc="-50" b="1">
                <a:latin typeface="Tahoma"/>
                <a:cs typeface="Tahoma"/>
              </a:rPr>
              <a:t>to</a:t>
            </a:r>
            <a:r>
              <a:rPr dirty="0" sz="2800" spc="-135" b="1">
                <a:latin typeface="Tahoma"/>
                <a:cs typeface="Tahoma"/>
              </a:rPr>
              <a:t> </a:t>
            </a:r>
            <a:r>
              <a:rPr dirty="0" sz="2800" spc="-10" b="1">
                <a:latin typeface="Tahoma"/>
                <a:cs typeface="Tahoma"/>
              </a:rPr>
              <a:t>become </a:t>
            </a:r>
            <a:r>
              <a:rPr dirty="0" sz="2800" spc="-110" b="1">
                <a:latin typeface="Tahoma"/>
                <a:cs typeface="Tahoma"/>
              </a:rPr>
              <a:t>the</a:t>
            </a:r>
            <a:r>
              <a:rPr dirty="0" sz="2800" spc="-80" b="1">
                <a:latin typeface="Tahoma"/>
                <a:cs typeface="Tahoma"/>
              </a:rPr>
              <a:t> </a:t>
            </a:r>
            <a:r>
              <a:rPr dirty="0" sz="2800" spc="-110" b="1">
                <a:latin typeface="Tahoma"/>
                <a:cs typeface="Tahoma"/>
              </a:rPr>
              <a:t>default</a:t>
            </a:r>
            <a:r>
              <a:rPr dirty="0" sz="2800" spc="-80" b="1">
                <a:latin typeface="Tahoma"/>
                <a:cs typeface="Tahoma"/>
              </a:rPr>
              <a:t> </a:t>
            </a:r>
            <a:r>
              <a:rPr dirty="0" sz="2800" spc="-10" b="1">
                <a:latin typeface="Tahoma"/>
                <a:cs typeface="Tahoma"/>
              </a:rPr>
              <a:t>sharing </a:t>
            </a:r>
            <a:r>
              <a:rPr dirty="0" sz="2800" spc="-90" b="1">
                <a:latin typeface="Tahoma"/>
                <a:cs typeface="Tahoma"/>
              </a:rPr>
              <a:t>standard</a:t>
            </a:r>
            <a:r>
              <a:rPr dirty="0" sz="2800" spc="-95" b="1">
                <a:latin typeface="Tahoma"/>
                <a:cs typeface="Tahoma"/>
              </a:rPr>
              <a:t> </a:t>
            </a:r>
            <a:r>
              <a:rPr dirty="0" sz="2800" spc="-105" b="1">
                <a:latin typeface="Tahoma"/>
                <a:cs typeface="Tahoma"/>
              </a:rPr>
              <a:t>in</a:t>
            </a:r>
            <a:r>
              <a:rPr dirty="0" sz="2800" spc="-90" b="1">
                <a:latin typeface="Tahoma"/>
                <a:cs typeface="Tahoma"/>
              </a:rPr>
              <a:t> </a:t>
            </a:r>
            <a:r>
              <a:rPr dirty="0" sz="2800" spc="-100" b="1">
                <a:latin typeface="Tahoma"/>
                <a:cs typeface="Tahoma"/>
              </a:rPr>
              <a:t>any</a:t>
            </a:r>
            <a:r>
              <a:rPr dirty="0" sz="2800" spc="-90" b="1">
                <a:latin typeface="Tahoma"/>
                <a:cs typeface="Tahoma"/>
              </a:rPr>
              <a:t> </a:t>
            </a:r>
            <a:r>
              <a:rPr dirty="0" sz="2800" spc="-40" b="1">
                <a:latin typeface="Tahoma"/>
                <a:cs typeface="Tahoma"/>
              </a:rPr>
              <a:t>app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350" y="-6350"/>
            <a:ext cx="13017500" cy="9766300"/>
            <a:chOff x="-6350" y="-6350"/>
            <a:chExt cx="13017500" cy="97663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4400" y="1892300"/>
              <a:ext cx="4787900" cy="7861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9753600"/>
                  </a:moveTo>
                  <a:lnTo>
                    <a:pt x="13004800" y="9753600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9753600"/>
                  </a:lnTo>
                  <a:close/>
                </a:path>
              </a:pathLst>
            </a:custGeom>
            <a:ln w="1270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28700" y="458469"/>
            <a:ext cx="10917555" cy="8150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29845">
              <a:lnSpc>
                <a:spcPts val="9870"/>
              </a:lnSpc>
            </a:pPr>
            <a:r>
              <a:rPr dirty="0" sz="8400" spc="-140" b="1">
                <a:latin typeface="Tahoma"/>
                <a:cs typeface="Tahoma"/>
              </a:rPr>
              <a:t>Competition</a:t>
            </a:r>
            <a:endParaRPr sz="8400">
              <a:latin typeface="Tahoma"/>
              <a:cs typeface="Tahoma"/>
            </a:endParaRPr>
          </a:p>
          <a:p>
            <a:pPr marL="571500" marR="381000" indent="-571500">
              <a:lnSpc>
                <a:spcPct val="101899"/>
              </a:lnSpc>
              <a:spcBef>
                <a:spcPts val="2635"/>
              </a:spcBef>
              <a:tabLst>
                <a:tab pos="570865" algn="l"/>
              </a:tabLst>
            </a:pPr>
            <a:r>
              <a:rPr dirty="0" sz="3600" spc="-555" b="1">
                <a:latin typeface="Tahoma"/>
                <a:cs typeface="Tahoma"/>
              </a:rPr>
              <a:t>•</a:t>
            </a:r>
            <a:r>
              <a:rPr dirty="0" sz="3600" b="1">
                <a:latin typeface="Tahoma"/>
                <a:cs typeface="Tahoma"/>
              </a:rPr>
              <a:t>	</a:t>
            </a:r>
            <a:r>
              <a:rPr dirty="0" sz="3600" spc="-95" b="1">
                <a:latin typeface="Tahoma"/>
                <a:cs typeface="Tahoma"/>
              </a:rPr>
              <a:t>Dashboards:</a:t>
            </a:r>
            <a:r>
              <a:rPr dirty="0" sz="3600" spc="-85" b="1">
                <a:latin typeface="Tahoma"/>
                <a:cs typeface="Tahoma"/>
              </a:rPr>
              <a:t> </a:t>
            </a:r>
            <a:r>
              <a:rPr dirty="0" sz="3600" spc="-110" b="1">
                <a:latin typeface="Tahoma"/>
                <a:cs typeface="Tahoma"/>
              </a:rPr>
              <a:t>Hootsuite,</a:t>
            </a:r>
            <a:r>
              <a:rPr dirty="0" sz="3600" spc="-85" b="1">
                <a:latin typeface="Tahoma"/>
                <a:cs typeface="Tahoma"/>
              </a:rPr>
              <a:t> </a:t>
            </a:r>
            <a:r>
              <a:rPr dirty="0" sz="3600" spc="-125" b="1">
                <a:latin typeface="Tahoma"/>
                <a:cs typeface="Tahoma"/>
              </a:rPr>
              <a:t>CoTweet,</a:t>
            </a:r>
            <a:r>
              <a:rPr dirty="0" sz="3600" spc="-85" b="1">
                <a:latin typeface="Tahoma"/>
                <a:cs typeface="Tahoma"/>
              </a:rPr>
              <a:t> </a:t>
            </a:r>
            <a:r>
              <a:rPr dirty="0" sz="3600" spc="-100" b="1">
                <a:latin typeface="Tahoma"/>
                <a:cs typeface="Tahoma"/>
              </a:rPr>
              <a:t>TweetDeck, </a:t>
            </a:r>
            <a:r>
              <a:rPr dirty="0" sz="3600" spc="-10" b="1">
                <a:latin typeface="Tahoma"/>
                <a:cs typeface="Tahoma"/>
              </a:rPr>
              <a:t>Seesmic</a:t>
            </a:r>
            <a:endParaRPr sz="3600">
              <a:latin typeface="Tahoma"/>
              <a:cs typeface="Tahoma"/>
            </a:endParaRPr>
          </a:p>
          <a:p>
            <a:pPr marL="571500" marR="316230" indent="-571500">
              <a:lnSpc>
                <a:spcPct val="101899"/>
              </a:lnSpc>
              <a:spcBef>
                <a:spcPts val="2400"/>
              </a:spcBef>
              <a:tabLst>
                <a:tab pos="570865" algn="l"/>
              </a:tabLst>
            </a:pPr>
            <a:r>
              <a:rPr dirty="0" sz="3600" spc="-555" b="1">
                <a:latin typeface="Tahoma"/>
                <a:cs typeface="Tahoma"/>
              </a:rPr>
              <a:t>•</a:t>
            </a:r>
            <a:r>
              <a:rPr dirty="0" sz="3600" b="1">
                <a:latin typeface="Tahoma"/>
                <a:cs typeface="Tahoma"/>
              </a:rPr>
              <a:t>	</a:t>
            </a:r>
            <a:r>
              <a:rPr dirty="0" sz="3600" spc="-215" b="1">
                <a:latin typeface="Tahoma"/>
                <a:cs typeface="Tahoma"/>
              </a:rPr>
              <a:t>Intelligent</a:t>
            </a:r>
            <a:r>
              <a:rPr dirty="0" sz="3600" spc="-45" b="1">
                <a:latin typeface="Tahoma"/>
                <a:cs typeface="Tahoma"/>
              </a:rPr>
              <a:t> </a:t>
            </a:r>
            <a:r>
              <a:rPr dirty="0" sz="3600" spc="-125" b="1">
                <a:latin typeface="Tahoma"/>
                <a:cs typeface="Tahoma"/>
              </a:rPr>
              <a:t>sharing:</a:t>
            </a:r>
            <a:r>
              <a:rPr dirty="0" sz="3600" spc="-45" b="1">
                <a:latin typeface="Tahoma"/>
                <a:cs typeface="Tahoma"/>
              </a:rPr>
              <a:t> </a:t>
            </a:r>
            <a:r>
              <a:rPr dirty="0" sz="3600" spc="-95" b="1">
                <a:latin typeface="Tahoma"/>
                <a:cs typeface="Tahoma"/>
              </a:rPr>
              <a:t>CrowdBooster,</a:t>
            </a:r>
            <a:r>
              <a:rPr dirty="0" sz="3600" spc="-40" b="1">
                <a:latin typeface="Tahoma"/>
                <a:cs typeface="Tahoma"/>
              </a:rPr>
              <a:t> </a:t>
            </a:r>
            <a:r>
              <a:rPr dirty="0" sz="3600" spc="-70" b="1">
                <a:latin typeface="Tahoma"/>
                <a:cs typeface="Tahoma"/>
              </a:rPr>
              <a:t>SocialFlow, </a:t>
            </a:r>
            <a:r>
              <a:rPr dirty="0" sz="3600" spc="-170" b="1">
                <a:latin typeface="Tahoma"/>
                <a:cs typeface="Tahoma"/>
              </a:rPr>
              <a:t>Timely,</a:t>
            </a:r>
            <a:r>
              <a:rPr dirty="0" sz="3600" spc="-75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Buffer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80"/>
              </a:spcBef>
              <a:tabLst>
                <a:tab pos="570865" algn="l"/>
              </a:tabLst>
            </a:pPr>
            <a:r>
              <a:rPr dirty="0" sz="3600" spc="-555" b="1">
                <a:latin typeface="Tahoma"/>
                <a:cs typeface="Tahoma"/>
              </a:rPr>
              <a:t>•</a:t>
            </a:r>
            <a:r>
              <a:rPr dirty="0" sz="3600" b="1">
                <a:latin typeface="Tahoma"/>
                <a:cs typeface="Tahoma"/>
              </a:rPr>
              <a:t>	</a:t>
            </a:r>
            <a:r>
              <a:rPr dirty="0" sz="3600" spc="-100" b="1">
                <a:latin typeface="Tahoma"/>
                <a:cs typeface="Tahoma"/>
              </a:rPr>
              <a:t>Publishers:</a:t>
            </a:r>
            <a:r>
              <a:rPr dirty="0" sz="3600" spc="-165" b="1">
                <a:latin typeface="Tahoma"/>
                <a:cs typeface="Tahoma"/>
              </a:rPr>
              <a:t> </a:t>
            </a:r>
            <a:r>
              <a:rPr dirty="0" sz="3600" spc="-90" b="1">
                <a:latin typeface="Tahoma"/>
                <a:cs typeface="Tahoma"/>
              </a:rPr>
              <a:t>Shareaholic,</a:t>
            </a:r>
            <a:r>
              <a:rPr dirty="0" sz="3600" spc="-170" b="1">
                <a:latin typeface="Tahoma"/>
                <a:cs typeface="Tahoma"/>
              </a:rPr>
              <a:t> </a:t>
            </a:r>
            <a:r>
              <a:rPr dirty="0" sz="3600" spc="-60" b="1">
                <a:latin typeface="Tahoma"/>
                <a:cs typeface="Tahoma"/>
              </a:rPr>
              <a:t>AddThis,</a:t>
            </a:r>
            <a:r>
              <a:rPr dirty="0" sz="3600" spc="-170" b="1">
                <a:latin typeface="Tahoma"/>
                <a:cs typeface="Tahoma"/>
              </a:rPr>
              <a:t> </a:t>
            </a:r>
            <a:r>
              <a:rPr dirty="0" sz="3600" spc="-85" b="1">
                <a:latin typeface="Tahoma"/>
                <a:cs typeface="Tahoma"/>
              </a:rPr>
              <a:t>yoono,</a:t>
            </a:r>
            <a:r>
              <a:rPr dirty="0" sz="3600" spc="-165" b="1">
                <a:latin typeface="Tahoma"/>
                <a:cs typeface="Tahoma"/>
              </a:rPr>
              <a:t> </a:t>
            </a:r>
            <a:r>
              <a:rPr dirty="0" sz="3600" spc="-60" b="1">
                <a:latin typeface="Tahoma"/>
                <a:cs typeface="Tahoma"/>
              </a:rPr>
              <a:t>Buffer</a:t>
            </a:r>
            <a:endParaRPr sz="3600">
              <a:latin typeface="Tahoma"/>
              <a:cs typeface="Tahoma"/>
            </a:endParaRPr>
          </a:p>
          <a:p>
            <a:pPr marL="571500" marR="1441450" indent="-571500">
              <a:lnSpc>
                <a:spcPct val="101899"/>
              </a:lnSpc>
              <a:spcBef>
                <a:spcPts val="2395"/>
              </a:spcBef>
              <a:tabLst>
                <a:tab pos="570865" algn="l"/>
              </a:tabLst>
            </a:pPr>
            <a:r>
              <a:rPr dirty="0" sz="3600" spc="-555" b="1">
                <a:latin typeface="Tahoma"/>
                <a:cs typeface="Tahoma"/>
              </a:rPr>
              <a:t>•</a:t>
            </a:r>
            <a:r>
              <a:rPr dirty="0" sz="3600" b="1">
                <a:latin typeface="Tahoma"/>
                <a:cs typeface="Tahoma"/>
              </a:rPr>
              <a:t>	</a:t>
            </a:r>
            <a:r>
              <a:rPr dirty="0" sz="3600" spc="-75" b="1">
                <a:latin typeface="Tahoma"/>
                <a:cs typeface="Tahoma"/>
              </a:rPr>
              <a:t>Scheduling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spc="-75" b="1">
                <a:latin typeface="Tahoma"/>
                <a:cs typeface="Tahoma"/>
              </a:rPr>
              <a:t>apps:</a:t>
            </a:r>
            <a:r>
              <a:rPr dirty="0" sz="3600" spc="-160" b="1">
                <a:latin typeface="Tahoma"/>
                <a:cs typeface="Tahoma"/>
              </a:rPr>
              <a:t> </a:t>
            </a:r>
            <a:r>
              <a:rPr dirty="0" sz="3600" spc="-50" b="1">
                <a:latin typeface="Tahoma"/>
                <a:cs typeface="Tahoma"/>
              </a:rPr>
              <a:t>SocialOomph,</a:t>
            </a:r>
            <a:r>
              <a:rPr dirty="0" sz="3600" spc="-155" b="1">
                <a:latin typeface="Tahoma"/>
                <a:cs typeface="Tahoma"/>
              </a:rPr>
              <a:t> </a:t>
            </a:r>
            <a:r>
              <a:rPr dirty="0" sz="3600" spc="-229" b="1">
                <a:latin typeface="Tahoma"/>
                <a:cs typeface="Tahoma"/>
              </a:rPr>
              <a:t>Twaitter, </a:t>
            </a:r>
            <a:r>
              <a:rPr dirty="0" sz="3600" spc="-95" b="1">
                <a:latin typeface="Tahoma"/>
                <a:cs typeface="Tahoma"/>
              </a:rPr>
              <a:t>LaterBro,</a:t>
            </a:r>
            <a:r>
              <a:rPr dirty="0" sz="3600" spc="-105" b="1">
                <a:latin typeface="Tahoma"/>
                <a:cs typeface="Tahoma"/>
              </a:rPr>
              <a:t> </a:t>
            </a:r>
            <a:r>
              <a:rPr dirty="0" sz="3600" spc="-70" b="1">
                <a:latin typeface="Tahoma"/>
                <a:cs typeface="Tahoma"/>
              </a:rPr>
              <a:t>Twuffer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tabLst>
                <a:tab pos="570865" algn="l"/>
              </a:tabLst>
            </a:pPr>
            <a:r>
              <a:rPr dirty="0" sz="3600" spc="-555" b="1">
                <a:latin typeface="Tahoma"/>
                <a:cs typeface="Tahoma"/>
              </a:rPr>
              <a:t>•</a:t>
            </a:r>
            <a:r>
              <a:rPr dirty="0" sz="3600" b="1">
                <a:latin typeface="Tahoma"/>
                <a:cs typeface="Tahoma"/>
              </a:rPr>
              <a:t>	</a:t>
            </a:r>
            <a:r>
              <a:rPr dirty="0" sz="3600" spc="-70" b="1">
                <a:latin typeface="Tahoma"/>
                <a:cs typeface="Tahoma"/>
              </a:rPr>
              <a:t>Our</a:t>
            </a:r>
            <a:r>
              <a:rPr dirty="0" sz="3600" spc="-105" b="1">
                <a:latin typeface="Tahoma"/>
                <a:cs typeface="Tahoma"/>
              </a:rPr>
              <a:t> </a:t>
            </a:r>
            <a:r>
              <a:rPr dirty="0" sz="3600" spc="-180" b="1">
                <a:latin typeface="Tahoma"/>
                <a:cs typeface="Tahoma"/>
              </a:rPr>
              <a:t>differentiation:</a:t>
            </a:r>
            <a:r>
              <a:rPr dirty="0" sz="3600" spc="-85" b="1">
                <a:latin typeface="Tahoma"/>
                <a:cs typeface="Tahoma"/>
              </a:rPr>
              <a:t> </a:t>
            </a:r>
            <a:r>
              <a:rPr dirty="0" sz="3600" b="1">
                <a:latin typeface="Tahoma"/>
                <a:cs typeface="Tahoma"/>
              </a:rPr>
              <a:t>a</a:t>
            </a:r>
            <a:r>
              <a:rPr dirty="0" sz="3600" spc="-90" b="1">
                <a:latin typeface="Tahoma"/>
                <a:cs typeface="Tahoma"/>
              </a:rPr>
              <a:t> </a:t>
            </a:r>
            <a:r>
              <a:rPr dirty="0" sz="3600" spc="-130" b="1">
                <a:latin typeface="Tahoma"/>
                <a:cs typeface="Tahoma"/>
              </a:rPr>
              <a:t>platform</a:t>
            </a:r>
            <a:r>
              <a:rPr dirty="0" sz="3600" spc="-95" b="1">
                <a:latin typeface="Tahoma"/>
                <a:cs typeface="Tahoma"/>
              </a:rPr>
              <a:t> </a:t>
            </a:r>
            <a:r>
              <a:rPr dirty="0" sz="3600" spc="-10" b="1">
                <a:latin typeface="Tahoma"/>
                <a:cs typeface="Tahoma"/>
              </a:rPr>
              <a:t>approach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3004800" cy="9753600"/>
            <a:chOff x="0" y="0"/>
            <a:chExt cx="13004800" cy="9753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00" y="8953500"/>
              <a:ext cx="2895600" cy="571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3004800" cy="97536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337225" y="406400"/>
            <a:ext cx="2584450" cy="11049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0" marR="5080" indent="-114935">
              <a:lnSpc>
                <a:spcPct val="102400"/>
              </a:lnSpc>
            </a:pPr>
            <a:r>
              <a:rPr dirty="0" sz="3500" spc="-105"/>
              <a:t>Competitive </a:t>
            </a:r>
            <a:r>
              <a:rPr dirty="0" sz="3500" spc="-10"/>
              <a:t>Landscape</a:t>
            </a:r>
            <a:endParaRPr sz="3500"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39069" y="381000"/>
            <a:ext cx="2101850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915"/>
              <a:t>T</a:t>
            </a:r>
            <a:r>
              <a:rPr dirty="0" sz="6400" spc="-190"/>
              <a:t>eam</a:t>
            </a:r>
            <a:endParaRPr sz="64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Joel</a:t>
            </a:r>
            <a:r>
              <a:rPr dirty="0" spc="-150"/>
              <a:t> </a:t>
            </a:r>
            <a:r>
              <a:rPr dirty="0" spc="-10"/>
              <a:t>Gascoigne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400" spc="-35">
                <a:solidFill>
                  <a:srgbClr val="4DA147"/>
                </a:solidFill>
              </a:rPr>
              <a:t>Co-</a:t>
            </a:r>
            <a:r>
              <a:rPr dirty="0" sz="2400" spc="-75">
                <a:solidFill>
                  <a:srgbClr val="4DA147"/>
                </a:solidFill>
              </a:rPr>
              <a:t>Founder,</a:t>
            </a:r>
            <a:r>
              <a:rPr dirty="0" sz="2400" spc="-100">
                <a:solidFill>
                  <a:srgbClr val="4DA147"/>
                </a:solidFill>
              </a:rPr>
              <a:t> </a:t>
            </a:r>
            <a:r>
              <a:rPr dirty="0" sz="2400" spc="-50">
                <a:solidFill>
                  <a:srgbClr val="4DA147"/>
                </a:solidFill>
              </a:rPr>
              <a:t>took</a:t>
            </a:r>
            <a:r>
              <a:rPr dirty="0" sz="2400" spc="-90">
                <a:solidFill>
                  <a:srgbClr val="4DA147"/>
                </a:solidFill>
              </a:rPr>
              <a:t> </a:t>
            </a:r>
            <a:r>
              <a:rPr dirty="0" sz="2400" spc="-100">
                <a:solidFill>
                  <a:srgbClr val="4DA147"/>
                </a:solidFill>
              </a:rPr>
              <a:t>the</a:t>
            </a:r>
            <a:r>
              <a:rPr dirty="0" sz="2400" spc="-75">
                <a:solidFill>
                  <a:srgbClr val="4DA147"/>
                </a:solidFill>
              </a:rPr>
              <a:t> </a:t>
            </a:r>
            <a:r>
              <a:rPr dirty="0" sz="2400" spc="-60">
                <a:solidFill>
                  <a:srgbClr val="4DA147"/>
                </a:solidFill>
              </a:rPr>
              <a:t>idea</a:t>
            </a:r>
            <a:r>
              <a:rPr dirty="0" sz="2400" spc="-80">
                <a:solidFill>
                  <a:srgbClr val="4DA147"/>
                </a:solidFill>
              </a:rPr>
              <a:t> </a:t>
            </a:r>
            <a:r>
              <a:rPr dirty="0" sz="2400" spc="-65">
                <a:solidFill>
                  <a:srgbClr val="4DA147"/>
                </a:solidFill>
              </a:rPr>
              <a:t>to</a:t>
            </a:r>
            <a:r>
              <a:rPr dirty="0" sz="2400" spc="-75">
                <a:solidFill>
                  <a:srgbClr val="4DA147"/>
                </a:solidFill>
              </a:rPr>
              <a:t> </a:t>
            </a:r>
            <a:r>
              <a:rPr dirty="0" sz="2400" spc="-95">
                <a:solidFill>
                  <a:srgbClr val="4DA147"/>
                </a:solidFill>
              </a:rPr>
              <a:t>revenue</a:t>
            </a:r>
            <a:r>
              <a:rPr dirty="0" sz="2400" spc="-75">
                <a:solidFill>
                  <a:srgbClr val="4DA147"/>
                </a:solidFill>
              </a:rPr>
              <a:t> </a:t>
            </a:r>
            <a:r>
              <a:rPr dirty="0" sz="2400" spc="-95">
                <a:solidFill>
                  <a:srgbClr val="4DA147"/>
                </a:solidFill>
              </a:rPr>
              <a:t>in</a:t>
            </a:r>
            <a:r>
              <a:rPr dirty="0" sz="2400" spc="-75">
                <a:solidFill>
                  <a:srgbClr val="4DA147"/>
                </a:solidFill>
              </a:rPr>
              <a:t> </a:t>
            </a:r>
            <a:r>
              <a:rPr dirty="0" sz="2400" spc="-204">
                <a:solidFill>
                  <a:srgbClr val="4DA147"/>
                </a:solidFill>
              </a:rPr>
              <a:t>7</a:t>
            </a:r>
            <a:r>
              <a:rPr dirty="0" sz="2400" spc="-40">
                <a:solidFill>
                  <a:srgbClr val="4DA147"/>
                </a:solidFill>
              </a:rPr>
              <a:t> </a:t>
            </a:r>
            <a:r>
              <a:rPr dirty="0" sz="2400" spc="-65">
                <a:solidFill>
                  <a:srgbClr val="4DA147"/>
                </a:solidFill>
              </a:rPr>
              <a:t>weeks,</a:t>
            </a:r>
            <a:r>
              <a:rPr dirty="0" sz="2400" spc="-80">
                <a:solidFill>
                  <a:srgbClr val="4DA147"/>
                </a:solidFill>
              </a:rPr>
              <a:t> </a:t>
            </a:r>
            <a:r>
              <a:rPr dirty="0" sz="2400" spc="-30">
                <a:solidFill>
                  <a:srgbClr val="4DA147"/>
                </a:solidFill>
              </a:rPr>
              <a:t>Masters</a:t>
            </a:r>
            <a:r>
              <a:rPr dirty="0" sz="2400" spc="-75">
                <a:solidFill>
                  <a:srgbClr val="4DA147"/>
                </a:solidFill>
              </a:rPr>
              <a:t> </a:t>
            </a:r>
            <a:r>
              <a:rPr dirty="0" sz="2400" spc="-95">
                <a:solidFill>
                  <a:srgbClr val="4DA147"/>
                </a:solidFill>
              </a:rPr>
              <a:t>in</a:t>
            </a:r>
            <a:r>
              <a:rPr dirty="0" sz="2400" spc="-75">
                <a:solidFill>
                  <a:srgbClr val="4DA147"/>
                </a:solidFill>
              </a:rPr>
              <a:t> </a:t>
            </a:r>
            <a:r>
              <a:rPr dirty="0" sz="2400" spc="65">
                <a:solidFill>
                  <a:srgbClr val="4DA147"/>
                </a:solidFill>
              </a:rPr>
              <a:t>CS</a:t>
            </a:r>
            <a:endParaRPr sz="2400"/>
          </a:p>
          <a:p>
            <a:pPr marL="12700">
              <a:lnSpc>
                <a:spcPct val="100000"/>
              </a:lnSpc>
              <a:spcBef>
                <a:spcPts val="2420"/>
              </a:spcBef>
            </a:pPr>
            <a:r>
              <a:rPr dirty="0"/>
              <a:t>Leo</a:t>
            </a:r>
            <a:r>
              <a:rPr dirty="0" spc="-140"/>
              <a:t> </a:t>
            </a:r>
            <a:r>
              <a:rPr dirty="0" spc="-10"/>
              <a:t>Widrich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400" spc="-35">
                <a:solidFill>
                  <a:srgbClr val="4DA147"/>
                </a:solidFill>
              </a:rPr>
              <a:t>Co-</a:t>
            </a:r>
            <a:r>
              <a:rPr dirty="0" sz="2400" spc="-75">
                <a:solidFill>
                  <a:srgbClr val="4DA147"/>
                </a:solidFill>
              </a:rPr>
              <a:t>Founder, </a:t>
            </a:r>
            <a:r>
              <a:rPr dirty="0" sz="2400" spc="-114">
                <a:solidFill>
                  <a:srgbClr val="4DA147"/>
                </a:solidFill>
              </a:rPr>
              <a:t>marketeer,</a:t>
            </a:r>
            <a:r>
              <a:rPr dirty="0" sz="2400" spc="-55">
                <a:solidFill>
                  <a:srgbClr val="4DA147"/>
                </a:solidFill>
              </a:rPr>
              <a:t> </a:t>
            </a:r>
            <a:r>
              <a:rPr dirty="0" sz="2400" spc="-50">
                <a:solidFill>
                  <a:srgbClr val="4DA147"/>
                </a:solidFill>
              </a:rPr>
              <a:t>took </a:t>
            </a:r>
            <a:r>
              <a:rPr dirty="0" sz="2400" spc="-80">
                <a:solidFill>
                  <a:srgbClr val="4DA147"/>
                </a:solidFill>
              </a:rPr>
              <a:t>Buffer</a:t>
            </a:r>
            <a:r>
              <a:rPr dirty="0" sz="2400" spc="-50">
                <a:solidFill>
                  <a:srgbClr val="4DA147"/>
                </a:solidFill>
              </a:rPr>
              <a:t> </a:t>
            </a:r>
            <a:r>
              <a:rPr dirty="0" sz="2400" spc="-100">
                <a:solidFill>
                  <a:srgbClr val="4DA147"/>
                </a:solidFill>
              </a:rPr>
              <a:t>from</a:t>
            </a:r>
            <a:r>
              <a:rPr dirty="0" sz="2400" spc="-55">
                <a:solidFill>
                  <a:srgbClr val="4DA147"/>
                </a:solidFill>
              </a:rPr>
              <a:t> </a:t>
            </a:r>
            <a:r>
              <a:rPr dirty="0" sz="2400" spc="-204">
                <a:solidFill>
                  <a:srgbClr val="4DA147"/>
                </a:solidFill>
              </a:rPr>
              <a:t>200</a:t>
            </a:r>
            <a:r>
              <a:rPr dirty="0" sz="2400" spc="-40">
                <a:solidFill>
                  <a:srgbClr val="4DA147"/>
                </a:solidFill>
              </a:rPr>
              <a:t> </a:t>
            </a:r>
            <a:r>
              <a:rPr dirty="0" sz="2400" spc="-65">
                <a:solidFill>
                  <a:srgbClr val="4DA147"/>
                </a:solidFill>
              </a:rPr>
              <a:t>to</a:t>
            </a:r>
            <a:r>
              <a:rPr dirty="0" sz="2400" spc="-50">
                <a:solidFill>
                  <a:srgbClr val="4DA147"/>
                </a:solidFill>
              </a:rPr>
              <a:t> </a:t>
            </a:r>
            <a:r>
              <a:rPr dirty="0" sz="2400" spc="-190">
                <a:solidFill>
                  <a:srgbClr val="4DA147"/>
                </a:solidFill>
              </a:rPr>
              <a:t>55,000</a:t>
            </a:r>
            <a:r>
              <a:rPr dirty="0" sz="2400" spc="-40">
                <a:solidFill>
                  <a:srgbClr val="4DA147"/>
                </a:solidFill>
              </a:rPr>
              <a:t> </a:t>
            </a:r>
            <a:r>
              <a:rPr dirty="0" sz="2400" spc="-10">
                <a:solidFill>
                  <a:srgbClr val="4DA147"/>
                </a:solidFill>
              </a:rPr>
              <a:t>users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300" y="8953500"/>
            <a:ext cx="2895600" cy="571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2500" y="5029200"/>
            <a:ext cx="4199890" cy="2115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 sz="4800" spc="-10" b="1">
                <a:latin typeface="Tahoma"/>
                <a:cs typeface="Tahoma"/>
              </a:rPr>
              <a:t>Advisors</a:t>
            </a:r>
            <a:endParaRPr sz="4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</a:pPr>
            <a:r>
              <a:rPr dirty="0" sz="2400" spc="-60" b="1">
                <a:latin typeface="Tahoma"/>
                <a:cs typeface="Tahoma"/>
              </a:rPr>
              <a:t>Guy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Kawasaki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380"/>
              </a:spcBef>
            </a:pPr>
            <a:r>
              <a:rPr dirty="0" sz="1800" spc="-45" b="1">
                <a:solidFill>
                  <a:srgbClr val="4F4F4F"/>
                </a:solidFill>
                <a:latin typeface="Tahoma"/>
                <a:cs typeface="Tahoma"/>
              </a:rPr>
              <a:t>Former</a:t>
            </a:r>
            <a:r>
              <a:rPr dirty="0" sz="1800" spc="-9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4F4F4F"/>
                </a:solidFill>
                <a:latin typeface="Tahoma"/>
                <a:cs typeface="Tahoma"/>
              </a:rPr>
              <a:t>Chief</a:t>
            </a:r>
            <a:r>
              <a:rPr dirty="0" sz="1800" spc="-8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55" b="1">
                <a:solidFill>
                  <a:srgbClr val="4F4F4F"/>
                </a:solidFill>
                <a:latin typeface="Tahoma"/>
                <a:cs typeface="Tahoma"/>
              </a:rPr>
              <a:t>Evangelist</a:t>
            </a:r>
            <a:r>
              <a:rPr dirty="0" sz="1800" spc="-8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4F4F4F"/>
                </a:solidFill>
                <a:latin typeface="Tahoma"/>
                <a:cs typeface="Tahoma"/>
              </a:rPr>
              <a:t>of</a:t>
            </a:r>
            <a:r>
              <a:rPr dirty="0" sz="1800" spc="-8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40" b="1">
                <a:solidFill>
                  <a:srgbClr val="4F4F4F"/>
                </a:solidFill>
                <a:latin typeface="Tahoma"/>
                <a:cs typeface="Tahoma"/>
              </a:rPr>
              <a:t>Apple.</a:t>
            </a:r>
            <a:r>
              <a:rPr dirty="0" sz="1800" spc="-8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4F4F4F"/>
                </a:solidFill>
                <a:latin typeface="Tahoma"/>
                <a:cs typeface="Tahoma"/>
              </a:rPr>
              <a:t>Co-</a:t>
            </a:r>
            <a:r>
              <a:rPr dirty="0" sz="1800" spc="-55" b="1">
                <a:solidFill>
                  <a:srgbClr val="4F4F4F"/>
                </a:solidFill>
                <a:latin typeface="Tahoma"/>
                <a:cs typeface="Tahoma"/>
              </a:rPr>
              <a:t>Founder</a:t>
            </a:r>
            <a:r>
              <a:rPr dirty="0" sz="1800" spc="-6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4F4F4F"/>
                </a:solidFill>
                <a:latin typeface="Tahoma"/>
                <a:cs typeface="Tahoma"/>
              </a:rPr>
              <a:t>of</a:t>
            </a:r>
            <a:r>
              <a:rPr dirty="0" sz="1800" spc="-5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60" b="1">
                <a:solidFill>
                  <a:srgbClr val="4F4F4F"/>
                </a:solidFill>
                <a:latin typeface="Tahoma"/>
                <a:cs typeface="Tahoma"/>
              </a:rPr>
              <a:t>Alltop.</a:t>
            </a:r>
            <a:r>
              <a:rPr dirty="0" sz="1800" spc="-5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75" b="1">
                <a:solidFill>
                  <a:srgbClr val="4F4F4F"/>
                </a:solidFill>
                <a:latin typeface="Tahoma"/>
                <a:cs typeface="Tahoma"/>
              </a:rPr>
              <a:t>Author</a:t>
            </a:r>
            <a:r>
              <a:rPr dirty="0" sz="1800" spc="-5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4F4F4F"/>
                </a:solidFill>
                <a:latin typeface="Tahoma"/>
                <a:cs typeface="Tahoma"/>
              </a:rPr>
              <a:t>of</a:t>
            </a:r>
            <a:r>
              <a:rPr dirty="0" sz="1800" spc="-5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90" b="1">
                <a:solidFill>
                  <a:srgbClr val="4F4F4F"/>
                </a:solidFill>
                <a:latin typeface="Tahoma"/>
                <a:cs typeface="Tahoma"/>
              </a:rPr>
              <a:t>ten</a:t>
            </a:r>
            <a:r>
              <a:rPr dirty="0" sz="1800" spc="-4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4F4F4F"/>
                </a:solidFill>
                <a:latin typeface="Tahoma"/>
                <a:cs typeface="Tahoma"/>
              </a:rPr>
              <a:t>books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500" y="7265246"/>
            <a:ext cx="3862070" cy="11118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400" spc="-100" b="1">
                <a:latin typeface="Tahoma"/>
                <a:cs typeface="Tahoma"/>
              </a:rPr>
              <a:t>Hiten</a:t>
            </a:r>
            <a:r>
              <a:rPr dirty="0" sz="2400" spc="-65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Shah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380"/>
              </a:spcBef>
            </a:pPr>
            <a:r>
              <a:rPr dirty="0" sz="1800" spc="60" b="1">
                <a:solidFill>
                  <a:srgbClr val="4F4F4F"/>
                </a:solidFill>
                <a:latin typeface="Tahoma"/>
                <a:cs typeface="Tahoma"/>
              </a:rPr>
              <a:t>CEO</a:t>
            </a:r>
            <a:r>
              <a:rPr dirty="0" sz="1800" spc="-8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375" b="1">
                <a:solidFill>
                  <a:srgbClr val="4F4F4F"/>
                </a:solidFill>
                <a:latin typeface="Tahoma"/>
                <a:cs typeface="Tahoma"/>
              </a:rPr>
              <a:t>/</a:t>
            </a:r>
            <a:r>
              <a:rPr dirty="0" sz="1800" spc="-3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40" b="1">
                <a:solidFill>
                  <a:srgbClr val="4F4F4F"/>
                </a:solidFill>
                <a:latin typeface="Tahoma"/>
                <a:cs typeface="Tahoma"/>
              </a:rPr>
              <a:t>Co-</a:t>
            </a:r>
            <a:r>
              <a:rPr dirty="0" sz="1800" spc="-25" b="1">
                <a:solidFill>
                  <a:srgbClr val="4F4F4F"/>
                </a:solidFill>
                <a:latin typeface="Tahoma"/>
                <a:cs typeface="Tahoma"/>
              </a:rPr>
              <a:t>Founder</a:t>
            </a:r>
            <a:r>
              <a:rPr dirty="0" sz="1800" spc="-5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4F4F4F"/>
                </a:solidFill>
                <a:latin typeface="Tahoma"/>
                <a:cs typeface="Tahoma"/>
              </a:rPr>
              <a:t>of</a:t>
            </a:r>
            <a:r>
              <a:rPr dirty="0" sz="1800" spc="-5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4F4F4F"/>
                </a:solidFill>
                <a:latin typeface="Tahoma"/>
                <a:cs typeface="Tahoma"/>
              </a:rPr>
              <a:t>KISSmetrics. </a:t>
            </a:r>
            <a:r>
              <a:rPr dirty="0" sz="1800" spc="-60" b="1">
                <a:solidFill>
                  <a:srgbClr val="4F4F4F"/>
                </a:solidFill>
                <a:latin typeface="Tahoma"/>
                <a:cs typeface="Tahoma"/>
              </a:rPr>
              <a:t>Previously</a:t>
            </a:r>
            <a:r>
              <a:rPr dirty="0" sz="1800" spc="-75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50" b="1">
                <a:solidFill>
                  <a:srgbClr val="4F4F4F"/>
                </a:solidFill>
                <a:latin typeface="Tahoma"/>
                <a:cs typeface="Tahoma"/>
              </a:rPr>
              <a:t>started</a:t>
            </a:r>
            <a:r>
              <a:rPr dirty="0" sz="1800" spc="-8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4F4F4F"/>
                </a:solidFill>
                <a:latin typeface="Tahoma"/>
                <a:cs typeface="Tahoma"/>
              </a:rPr>
              <a:t>CrazyEgg</a:t>
            </a:r>
            <a:r>
              <a:rPr dirty="0" sz="1800" spc="-9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190" b="1">
                <a:solidFill>
                  <a:srgbClr val="4F4F4F"/>
                </a:solidFill>
                <a:latin typeface="Tahoma"/>
                <a:cs typeface="Tahoma"/>
              </a:rPr>
              <a:t>&amp;</a:t>
            </a:r>
            <a:r>
              <a:rPr dirty="0" sz="1800" spc="-30" b="1">
                <a:solidFill>
                  <a:srgbClr val="4F4F4F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4F4F4F"/>
                </a:solidFill>
                <a:latin typeface="Tahoma"/>
                <a:cs typeface="Tahoma"/>
              </a:rPr>
              <a:t>ACS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04000" y="5029200"/>
            <a:ext cx="54006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20" b="1">
                <a:latin typeface="Tahoma"/>
                <a:cs typeface="Tahoma"/>
              </a:rPr>
              <a:t>Previous</a:t>
            </a:r>
            <a:r>
              <a:rPr dirty="0" sz="4800" spc="-195" b="1">
                <a:latin typeface="Tahoma"/>
                <a:cs typeface="Tahoma"/>
              </a:rPr>
              <a:t> </a:t>
            </a:r>
            <a:r>
              <a:rPr dirty="0" sz="4800" spc="-200" b="1">
                <a:latin typeface="Tahoma"/>
                <a:cs typeface="Tahoma"/>
              </a:rPr>
              <a:t>Investors</a:t>
            </a:r>
            <a:endParaRPr sz="4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6350" y="-6350"/>
            <a:ext cx="13017500" cy="9766300"/>
            <a:chOff x="-6350" y="-6350"/>
            <a:chExt cx="13017500" cy="97663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5300" y="6400800"/>
              <a:ext cx="1816100" cy="558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71000" y="6045200"/>
              <a:ext cx="3175000" cy="1270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4100" y="7759700"/>
              <a:ext cx="711200" cy="1143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96500" y="7937500"/>
              <a:ext cx="1511300" cy="7747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9753600"/>
                  </a:moveTo>
                  <a:lnTo>
                    <a:pt x="13004800" y="9753600"/>
                  </a:lnTo>
                  <a:lnTo>
                    <a:pt x="13004800" y="0"/>
                  </a:lnTo>
                  <a:lnTo>
                    <a:pt x="0" y="0"/>
                  </a:lnTo>
                  <a:lnTo>
                    <a:pt x="0" y="9753600"/>
                  </a:lnTo>
                  <a:close/>
                </a:path>
              </a:pathLst>
            </a:custGeom>
            <a:ln w="1270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04445" y="4356100"/>
            <a:ext cx="9796145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204">
                <a:hlinkClick r:id="rId3"/>
              </a:rPr>
              <a:t>founders@bufferapp.com</a:t>
            </a:r>
            <a:endParaRPr sz="6400"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9753600"/>
                </a:moveTo>
                <a:lnTo>
                  <a:pt x="13004800" y="9753600"/>
                </a:lnTo>
                <a:lnTo>
                  <a:pt x="130048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GenPPT (genppt.com)</dc:creator>
  <cp:keywords>Buffer pitch deck Buffer pitch deck 2011 seed pitch deck saas pitch deck famous startup pitch deck investor deck PDF GenPPT</cp:keywords>
  <dc:subject>Buffer's 2011 seed pitch deck — 13 slides that raised ~$450K with traction-first SaaS storytelling. Slide-by-slide teardown for founders.</dc:subject>
  <dc:title>Buffer Pitch Deck (2011) — Original Investor Deck PDF</dc:title>
  <dcterms:created xsi:type="dcterms:W3CDTF">2026-10-04T08:57:50Z</dcterms:created>
  <dcterms:modified xsi:type="dcterms:W3CDTF">2026-10-04T08:57:50Z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GenPPT</vt:lpwstr>
  </property>
  <property fmtid="{D5CDD505-2E9C-101B-9397-08002B2CF9AE}" pid="3" name="LastSaved">
    <vt:filetime>2026-10-04T00:00:00Z</vt:filetime>
  </property>
  <property fmtid="{D5CDD505-2E9C-101B-9397-08002B2CF9AE}" pid="4" name="Producer">
    <vt:lpwstr>GenPPT</vt:lpwstr>
  </property>
</Properties>
</file>